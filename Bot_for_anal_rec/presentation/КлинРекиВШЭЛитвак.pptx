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10287000" cx="18288000"/>
  <p:notesSz cx="6858000" cy="9144000"/>
  <p:embeddedFontLst>
    <p:embeddedFont>
      <p:font typeface="Montserrat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3d32ea2e4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g33d32ea2e43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3d32ea2e4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3d32ea2e43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3d32ea2e4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g33d32ea2e43_0_2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3d32ea2e4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3d32ea2e43_0_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3d32ea2e4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g33d32ea2e43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d32ea2e43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3d32ea2e43_0_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3d32ea2e43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3d32ea2e43_0_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3d32ea2e43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g33d32ea2e43_0_8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3d32ea2e43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3d32ea2e43_0_9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3d32ea2e43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g33d32ea2e43_0_1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3d32ea2e43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g33d32ea2e43_0_1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3d32ea2e43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g33d32ea2e43_0_1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3d32ea2e43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g33d32ea2e43_0_14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3d32ea2e4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3d32ea2e43_0_16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3d32ea2e43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g33d32ea2e43_0_16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3d32ea2e43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3d32ea2e43_0_17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3d32ea2e43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3d32ea2e43_0_1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10.png"/><Relationship Id="rId6" Type="http://schemas.openxmlformats.org/officeDocument/2006/relationships/image" Target="../media/image2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5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7.png"/><Relationship Id="rId5" Type="http://schemas.openxmlformats.org/officeDocument/2006/relationships/image" Target="../media/image15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5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9353550" y="0"/>
            <a:ext cx="10287000" cy="10287000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55" name="Google Shape;55;p13"/>
          <p:cNvGrpSpPr/>
          <p:nvPr/>
        </p:nvGrpSpPr>
        <p:grpSpPr>
          <a:xfrm>
            <a:off x="1028700" y="633425"/>
            <a:ext cx="15221700" cy="4902575"/>
            <a:chOff x="0" y="-527033"/>
            <a:chExt cx="20295600" cy="6536767"/>
          </a:xfrm>
        </p:grpSpPr>
        <p:sp>
          <p:nvSpPr>
            <p:cNvPr id="56" name="Google Shape;56;p13"/>
            <p:cNvSpPr txBox="1"/>
            <p:nvPr/>
          </p:nvSpPr>
          <p:spPr>
            <a:xfrm>
              <a:off x="0" y="-527033"/>
              <a:ext cx="20295600" cy="4761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rgbClr val="FFFFFF"/>
                  </a:solidFill>
                </a:rPr>
                <a:t>АНАЛИЗ КЛИНИЧЕСКИХ РЕКОМЕНДАЦИЙ МИНЗДРАВА РФ: СПОРНЫЕ ПРЕПАРАТЫ И ВЫЗОВЫ ДОКАЗАТЕЛЬНОЙ МЕДИЦИНЕ В КОНТЕКСТЕ НОВЫХ РЕГУЛЯТОРНЫХ ТРЕБОВАНИЙ </a:t>
              </a:r>
              <a:endParaRPr sz="4000">
                <a:solidFill>
                  <a:srgbClr val="FFFFFF"/>
                </a:solidFill>
              </a:endParaRPr>
            </a:p>
            <a:p>
              <a:pPr indent="0" lvl="0" marL="0" marR="0" rtl="0" algn="l">
                <a:lnSpc>
                  <a:spcPct val="12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4000">
                <a:solidFill>
                  <a:srgbClr val="FFFFFF"/>
                </a:solidFill>
              </a:endParaRPr>
            </a:p>
          </p:txBody>
        </p:sp>
        <p:sp>
          <p:nvSpPr>
            <p:cNvPr id="57" name="Google Shape;57;p13"/>
            <p:cNvSpPr txBox="1"/>
            <p:nvPr/>
          </p:nvSpPr>
          <p:spPr>
            <a:xfrm>
              <a:off x="0" y="3670033"/>
              <a:ext cx="12669300" cy="233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3000" u="none" cap="none" strike="noStrike">
                  <a:solidFill>
                    <a:srgbClr val="0097A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Автор: </a:t>
              </a:r>
              <a:r>
                <a:rPr b="1" lang="en-US" sz="3000">
                  <a:solidFill>
                    <a:srgbClr val="0097A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Литвак Иван | vanya.litvak@gmail.com</a:t>
              </a:r>
              <a:br>
                <a:rPr b="1" lang="en-US" sz="3000">
                  <a:solidFill>
                    <a:srgbClr val="0097A7"/>
                  </a:solidFill>
                  <a:latin typeface="Montserrat"/>
                  <a:ea typeface="Montserrat"/>
                  <a:cs typeface="Montserrat"/>
                  <a:sym typeface="Montserrat"/>
                </a:rPr>
              </a:br>
              <a:r>
                <a:rPr lang="en-US" sz="3000">
                  <a:solidFill>
                    <a:srgbClr val="0097A7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Редактор: Рощенко Мария</a:t>
              </a:r>
              <a:endParaRPr sz="3000">
                <a:solidFill>
                  <a:srgbClr val="0097A7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30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</p:grpSp>
      <p:pic>
        <p:nvPicPr>
          <p:cNvPr id="58" name="Google Shape;58;p13" title="qr-code (1).png"/>
          <p:cNvPicPr preferRelativeResize="0"/>
          <p:nvPr/>
        </p:nvPicPr>
        <p:blipFill rotWithShape="1">
          <a:blip r:embed="rId4">
            <a:alphaModFix/>
          </a:blip>
          <a:srcRect b="0" l="0" r="2200" t="0"/>
          <a:stretch/>
        </p:blipFill>
        <p:spPr>
          <a:xfrm>
            <a:off x="800100" y="5045050"/>
            <a:ext cx="4764585" cy="4871526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9986875" y="5045050"/>
            <a:ext cx="3414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Проект </a:t>
            </a:r>
            <a:r>
              <a:rPr lang="en-US" sz="3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на гитхаб</a:t>
            </a:r>
            <a:endParaRPr sz="32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0" name="Google Shape;60;p13"/>
          <p:cNvCxnSpPr>
            <a:stCxn id="59" idx="1"/>
            <a:endCxn id="58" idx="3"/>
          </p:cNvCxnSpPr>
          <p:nvPr/>
        </p:nvCxnSpPr>
        <p:spPr>
          <a:xfrm flipH="1">
            <a:off x="5564575" y="5383600"/>
            <a:ext cx="4422300" cy="2097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14875" y="6992524"/>
            <a:ext cx="1327625" cy="1241050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/>
          <p:nvPr/>
        </p:nvSpPr>
        <p:spPr>
          <a:xfrm rot="-4666841">
            <a:off x="10379889" y="-848680"/>
            <a:ext cx="12393727" cy="12212347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67" name="Google Shape;67;p14"/>
          <p:cNvSpPr txBox="1"/>
          <p:nvPr/>
        </p:nvSpPr>
        <p:spPr>
          <a:xfrm>
            <a:off x="1028700" y="1502167"/>
            <a:ext cx="141639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10000">
                <a:solidFill>
                  <a:srgbClr val="FFFFFF"/>
                </a:solidFill>
              </a:rPr>
              <a:t>Почему это важно?</a:t>
            </a:r>
            <a:endParaRPr sz="10000">
              <a:solidFill>
                <a:srgbClr val="FFFFFF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1028700" y="3244250"/>
            <a:ext cx="12241500" cy="11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solidFill>
                  <a:schemeClr val="lt1"/>
                </a:solidFill>
              </a:rPr>
              <a:t>Клинические рекомендации Минздрава РФ становятся ориентиром </a:t>
            </a:r>
            <a:br>
              <a:rPr lang="en-US" sz="3000">
                <a:solidFill>
                  <a:schemeClr val="lt1"/>
                </a:solidFill>
              </a:rPr>
            </a:br>
            <a:r>
              <a:rPr lang="en-US" sz="3000">
                <a:solidFill>
                  <a:schemeClr val="lt1"/>
                </a:solidFill>
              </a:rPr>
              <a:t>для врачей с 2025 года</a:t>
            </a:r>
            <a:endParaRPr sz="3000">
              <a:solidFill>
                <a:schemeClr val="lt1"/>
              </a:solidFill>
            </a:endParaRPr>
          </a:p>
        </p:txBody>
      </p:sp>
      <p:pic>
        <p:nvPicPr>
          <p:cNvPr id="69" name="Google Shape;69;p14" title="qr-code (2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980675" y="4421750"/>
            <a:ext cx="5288125" cy="5288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6200" y="5191175"/>
            <a:ext cx="1327625" cy="130917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765550" y="5400325"/>
            <a:ext cx="8208300" cy="2662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FFFFFF"/>
                </a:solidFill>
              </a:rPr>
              <a:t>...переход медицинских организаций к оказанию медицинской помощи на основе клинических рекомендаций &lt;…&gt; осуществляется &lt;…&gt;</a:t>
            </a:r>
            <a:br>
              <a:rPr i="1" lang="en-US" sz="2600">
                <a:solidFill>
                  <a:srgbClr val="FFFFFF"/>
                </a:solidFill>
              </a:rPr>
            </a:br>
            <a:r>
              <a:rPr i="1" lang="en-US" sz="2600">
                <a:solidFill>
                  <a:srgbClr val="FFFFFF"/>
                </a:solidFill>
              </a:rPr>
              <a:t>не позднее 01.01.2025</a:t>
            </a:r>
            <a:endParaRPr i="1" sz="2600">
              <a:solidFill>
                <a:srgbClr val="FFFFFF"/>
              </a:solidFill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280900" y="8138725"/>
            <a:ext cx="9330000" cy="73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</a:rPr>
              <a:t>— Выдержка из письма Минздрава РФ (21.01.2025, № 17-1/3003770-2772)</a:t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/>
        </p:nvSpPr>
        <p:spPr>
          <a:xfrm>
            <a:off x="4801500" y="8097225"/>
            <a:ext cx="92385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2800">
                <a:solidFill>
                  <a:schemeClr val="lt1"/>
                </a:solidFill>
              </a:rPr>
              <a:t>Злокачественные новообразования </a:t>
            </a:r>
            <a:r>
              <a:rPr i="1" lang="en-US" sz="2800">
                <a:solidFill>
                  <a:schemeClr val="lt1"/>
                </a:solidFill>
              </a:rPr>
              <a:t>полости рта</a:t>
            </a:r>
            <a:endParaRPr i="1" sz="2800">
              <a:solidFill>
                <a:schemeClr val="lt1"/>
              </a:solidFill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lt1"/>
                </a:solidFill>
              </a:rPr>
              <a:t>Рефлексотерапия/акупунктура — B1 рекомендация</a:t>
            </a:r>
            <a:endParaRPr i="1" sz="2800">
              <a:solidFill>
                <a:schemeClr val="lt1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1028700" y="409575"/>
            <a:ext cx="15417600" cy="11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224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ПРОБЛЕМА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261000" y="1725375"/>
            <a:ext cx="15417600" cy="272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Клинические рекомендации составлять сложно, ещё сложнее —  убедиться, что с ними всё в порядке</a:t>
            </a:r>
            <a:endParaRPr>
              <a:solidFill>
                <a:schemeClr val="lt1"/>
              </a:solidFill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Типичная клиническая рекомендация — это 50 страниц текста и более 200 источников</a:t>
            </a:r>
            <a:endParaRPr/>
          </a:p>
        </p:txBody>
      </p:sp>
      <p:sp>
        <p:nvSpPr>
          <p:cNvPr id="80" name="Google Shape;80;p15"/>
          <p:cNvSpPr txBox="1"/>
          <p:nvPr/>
        </p:nvSpPr>
        <p:spPr>
          <a:xfrm>
            <a:off x="261000" y="4653675"/>
            <a:ext cx="154176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</a:rPr>
              <a:t>В результате могут появляться </a:t>
            </a:r>
            <a:r>
              <a:rPr b="1" lang="en-US" sz="6000">
                <a:solidFill>
                  <a:schemeClr val="lt1"/>
                </a:solidFill>
              </a:rPr>
              <a:t>ошибки </a:t>
            </a:r>
            <a:endParaRPr b="1" sz="6000">
              <a:solidFill>
                <a:schemeClr val="lt1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261000" y="5965875"/>
            <a:ext cx="10411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lt1"/>
                </a:solidFill>
              </a:rPr>
              <a:t>Глаукома первичная открытоугольная</a:t>
            </a:r>
            <a:endParaRPr i="1" sz="2800">
              <a:solidFill>
                <a:schemeClr val="lt1"/>
              </a:solidFill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lt1"/>
                </a:solidFill>
              </a:rPr>
              <a:t>Полипептиды сетчатки глаз скота — А1 рекомендация</a:t>
            </a:r>
            <a:endParaRPr i="1" sz="2800">
              <a:solidFill>
                <a:schemeClr val="lt1"/>
              </a:solidFill>
            </a:endParaRPr>
          </a:p>
        </p:txBody>
      </p:sp>
      <p:pic>
        <p:nvPicPr>
          <p:cNvPr id="82" name="Google Shape;82;p15" title="qr-code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9275" y="5761875"/>
            <a:ext cx="2219924" cy="2219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3" name="Google Shape;83;p15"/>
          <p:cNvCxnSpPr>
            <a:stCxn id="81" idx="3"/>
            <a:endCxn id="82" idx="1"/>
          </p:cNvCxnSpPr>
          <p:nvPr/>
        </p:nvCxnSpPr>
        <p:spPr>
          <a:xfrm>
            <a:off x="10672200" y="6596925"/>
            <a:ext cx="857100" cy="2748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84" name="Google Shape;84;p15" title="qr-code (5).png"/>
          <p:cNvPicPr preferRelativeResize="0"/>
          <p:nvPr/>
        </p:nvPicPr>
        <p:blipFill rotWithShape="1">
          <a:blip r:embed="rId4">
            <a:alphaModFix/>
          </a:blip>
          <a:srcRect b="0" l="0" r="-5664" t="0"/>
          <a:stretch/>
        </p:blipFill>
        <p:spPr>
          <a:xfrm>
            <a:off x="1028700" y="7509075"/>
            <a:ext cx="2345549" cy="2219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5" name="Google Shape;85;p15"/>
          <p:cNvCxnSpPr>
            <a:stCxn id="77" idx="1"/>
            <a:endCxn id="84" idx="3"/>
          </p:cNvCxnSpPr>
          <p:nvPr/>
        </p:nvCxnSpPr>
        <p:spPr>
          <a:xfrm rot="10800000">
            <a:off x="3374100" y="8618925"/>
            <a:ext cx="1427400" cy="171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5"/>
          <p:cNvSpPr/>
          <p:nvPr/>
        </p:nvSpPr>
        <p:spPr>
          <a:xfrm>
            <a:off x="14412537" y="2014560"/>
            <a:ext cx="7331825" cy="10287000"/>
          </a:xfrm>
          <a:custGeom>
            <a:rect b="b" l="l" r="r" t="t"/>
            <a:pathLst>
              <a:path extrusionOk="0" h="10287000" w="7331825">
                <a:moveTo>
                  <a:pt x="0" y="0"/>
                </a:moveTo>
                <a:lnTo>
                  <a:pt x="7331826" y="0"/>
                </a:lnTo>
                <a:lnTo>
                  <a:pt x="7331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6"/>
          <p:cNvSpPr txBox="1"/>
          <p:nvPr/>
        </p:nvSpPr>
        <p:spPr>
          <a:xfrm>
            <a:off x="1028700" y="426675"/>
            <a:ext cx="154176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chemeClr val="lt1"/>
                </a:solidFill>
              </a:rPr>
              <a:t>РИСК</a:t>
            </a:r>
            <a:endParaRPr sz="7000">
              <a:solidFill>
                <a:schemeClr val="lt1"/>
              </a:solidFill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4412537" y="2014560"/>
            <a:ext cx="7331825" cy="10287000"/>
          </a:xfrm>
          <a:custGeom>
            <a:rect b="b" l="l" r="r" t="t"/>
            <a:pathLst>
              <a:path extrusionOk="0" h="10287000" w="7331825">
                <a:moveTo>
                  <a:pt x="0" y="0"/>
                </a:moveTo>
                <a:lnTo>
                  <a:pt x="7331826" y="0"/>
                </a:lnTo>
                <a:lnTo>
                  <a:pt x="73318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6"/>
          <p:cNvSpPr txBox="1"/>
          <p:nvPr/>
        </p:nvSpPr>
        <p:spPr>
          <a:xfrm>
            <a:off x="0" y="1801575"/>
            <a:ext cx="136842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Врачи будут ориентироваться на </a:t>
            </a:r>
            <a:r>
              <a:rPr b="1" lang="en-US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сомнительные </a:t>
            </a:r>
            <a:r>
              <a:rPr lang="en-US" sz="4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рекомендации.</a:t>
            </a:r>
            <a:endParaRPr sz="4000"/>
          </a:p>
        </p:txBody>
      </p:sp>
      <p:sp>
        <p:nvSpPr>
          <p:cNvPr id="94" name="Google Shape;94;p16"/>
          <p:cNvSpPr txBox="1"/>
          <p:nvPr/>
        </p:nvSpPr>
        <p:spPr>
          <a:xfrm>
            <a:off x="1054800" y="6425775"/>
            <a:ext cx="115746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000">
                <a:solidFill>
                  <a:schemeClr val="lt1"/>
                </a:solidFill>
              </a:rPr>
              <a:t>Представьте: ваш врач следует рекомендациям, которые содержат псевдонауку. Вместо лечения — трата денег и потеря времени, которое особенно важно для эффективного лечения.</a:t>
            </a:r>
            <a:endParaRPr i="1"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lt1"/>
                </a:solidFill>
              </a:rPr>
              <a:t>Это может коснуться каждого из нас.</a:t>
            </a:r>
            <a:endParaRPr b="1" sz="3600">
              <a:solidFill>
                <a:schemeClr val="lt1"/>
              </a:solidFill>
            </a:endParaRPr>
          </a:p>
        </p:txBody>
      </p:sp>
      <p:sp>
        <p:nvSpPr>
          <p:cNvPr id="95" name="Google Shape;95;p16"/>
          <p:cNvSpPr txBox="1"/>
          <p:nvPr/>
        </p:nvSpPr>
        <p:spPr>
          <a:xfrm>
            <a:off x="583950" y="3881775"/>
            <a:ext cx="142497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Это: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Char char="●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Угрожает здоровью пациентов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91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ontserrat"/>
              <a:buChar char="●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Подрывает доверие к медицине</a:t>
            </a:r>
            <a:endParaRPr sz="3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7"/>
          <p:cNvGrpSpPr/>
          <p:nvPr/>
        </p:nvGrpSpPr>
        <p:grpSpPr>
          <a:xfrm>
            <a:off x="-3409950" y="-1571625"/>
            <a:ext cx="10382250" cy="15830550"/>
            <a:chOff x="0" y="0"/>
            <a:chExt cx="13843000" cy="21107400"/>
          </a:xfrm>
        </p:grpSpPr>
        <p:sp>
          <p:nvSpPr>
            <p:cNvPr id="101" name="Google Shape;101;p17"/>
            <p:cNvSpPr/>
            <p:nvPr/>
          </p:nvSpPr>
          <p:spPr>
            <a:xfrm>
              <a:off x="2489200" y="445770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2" name="Google Shape;102;p17"/>
            <p:cNvSpPr/>
            <p:nvPr/>
          </p:nvSpPr>
          <p:spPr>
            <a:xfrm>
              <a:off x="0" y="1051560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03" name="Google Shape;103;p17"/>
            <p:cNvSpPr/>
            <p:nvPr/>
          </p:nvSpPr>
          <p:spPr>
            <a:xfrm>
              <a:off x="3251200" y="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grpSp>
        <p:nvGrpSpPr>
          <p:cNvPr id="104" name="Google Shape;104;p17"/>
          <p:cNvGrpSpPr/>
          <p:nvPr/>
        </p:nvGrpSpPr>
        <p:grpSpPr>
          <a:xfrm>
            <a:off x="7719710" y="1640000"/>
            <a:ext cx="9191250" cy="4414462"/>
            <a:chOff x="0" y="-1595333"/>
            <a:chExt cx="12255000" cy="5885950"/>
          </a:xfrm>
        </p:grpSpPr>
        <p:sp>
          <p:nvSpPr>
            <p:cNvPr id="105" name="Google Shape;105;p17"/>
            <p:cNvSpPr txBox="1"/>
            <p:nvPr/>
          </p:nvSpPr>
          <p:spPr>
            <a:xfrm>
              <a:off x="0" y="-1595333"/>
              <a:ext cx="122550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9000">
                  <a:solidFill>
                    <a:srgbClr val="FFFFFF"/>
                  </a:solidFill>
                </a:rPr>
                <a:t>Цели проекта</a:t>
              </a:r>
              <a:endParaRPr/>
            </a:p>
          </p:txBody>
        </p:sp>
        <p:sp>
          <p:nvSpPr>
            <p:cNvPr id="106" name="Google Shape;106;p17"/>
            <p:cNvSpPr txBox="1"/>
            <p:nvPr/>
          </p:nvSpPr>
          <p:spPr>
            <a:xfrm>
              <a:off x="0" y="756617"/>
              <a:ext cx="12255000" cy="353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423863" lvl="1" marL="914400" marR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lt1"/>
                </a:buClr>
                <a:buSzPts val="3075"/>
                <a:buChar char="•"/>
              </a:pPr>
              <a:r>
                <a:rPr lang="en-US" sz="3075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Защита пациентов</a:t>
              </a:r>
              <a:endParaRPr sz="3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423863" lvl="1" marL="914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75"/>
                <a:buChar char="•"/>
              </a:pPr>
              <a:r>
                <a:rPr lang="en-US" sz="3075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Повышение доверия к медицине</a:t>
              </a:r>
              <a:endParaRPr sz="3075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423863" lvl="1" marL="914400" marR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75"/>
                <a:buChar char="•"/>
              </a:pPr>
              <a:r>
                <a:rPr lang="en-US" sz="3075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Создание открытой и свободной системы верификации клинических рекомендаций</a:t>
              </a:r>
              <a:endParaRPr>
                <a:solidFill>
                  <a:schemeClr val="lt1"/>
                </a:solidFill>
              </a:endParaRPr>
            </a:p>
          </p:txBody>
        </p:sp>
      </p:grpSp>
      <p:pic>
        <p:nvPicPr>
          <p:cNvPr id="107" name="Google Shape;107;p17" title="free-icon-database-985081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66800" y="6919875"/>
            <a:ext cx="2259651" cy="2259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 title="free-icon-artificial-intelligence-4632842.png"/>
          <p:cNvPicPr preferRelativeResize="0"/>
          <p:nvPr/>
        </p:nvPicPr>
        <p:blipFill rotWithShape="1">
          <a:blip r:embed="rId5">
            <a:alphaModFix/>
          </a:blip>
          <a:srcRect b="-5960" l="-8986" r="-10990" t="-8443"/>
          <a:stretch/>
        </p:blipFill>
        <p:spPr>
          <a:xfrm>
            <a:off x="10328213" y="6728975"/>
            <a:ext cx="2711163" cy="2585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9" name="Google Shape;109;p17"/>
          <p:cNvCxnSpPr>
            <a:stCxn id="107" idx="3"/>
            <a:endCxn id="108" idx="1"/>
          </p:cNvCxnSpPr>
          <p:nvPr/>
        </p:nvCxnSpPr>
        <p:spPr>
          <a:xfrm flipH="1" rot="10800000">
            <a:off x="8826451" y="8021500"/>
            <a:ext cx="1501800" cy="28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10" name="Google Shape;110;p17" title="free-icon-pdf-337946.png"/>
          <p:cNvPicPr preferRelativeResize="0"/>
          <p:nvPr/>
        </p:nvPicPr>
        <p:blipFill rotWithShape="1">
          <a:blip r:embed="rId6">
            <a:alphaModFix/>
          </a:blip>
          <a:srcRect b="0" l="-4877" r="0" t="0"/>
          <a:stretch/>
        </p:blipFill>
        <p:spPr>
          <a:xfrm>
            <a:off x="14541150" y="6891763"/>
            <a:ext cx="2369800" cy="22596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1" name="Google Shape;111;p17"/>
          <p:cNvCxnSpPr>
            <a:stCxn id="108" idx="3"/>
            <a:endCxn id="110" idx="1"/>
          </p:cNvCxnSpPr>
          <p:nvPr/>
        </p:nvCxnSpPr>
        <p:spPr>
          <a:xfrm>
            <a:off x="13039375" y="8021575"/>
            <a:ext cx="15018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 txBox="1"/>
          <p:nvPr/>
        </p:nvSpPr>
        <p:spPr>
          <a:xfrm>
            <a:off x="5957875" y="5505175"/>
            <a:ext cx="5268600" cy="41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AutoNum type="arabicParenR" startAt="2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Чёрный список: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AutoNum type="alphaLcParenR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«Расстрельный список» </a:t>
            </a:r>
            <a:b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654 наименования encyclopatia.ru/wiki/Расстрель</a:t>
            </a:r>
            <a:b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ный_список_препаратов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AutoNum type="alphaLcParenR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Слова-маркеры: «гомеопатия», «биорезонанс», «аффинное», «сверхвысокие разведения»</a:t>
            </a:r>
            <a:b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(71 маркер)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7" name="Google Shape;117;p18"/>
          <p:cNvSpPr txBox="1"/>
          <p:nvPr/>
        </p:nvSpPr>
        <p:spPr>
          <a:xfrm>
            <a:off x="765373" y="1938970"/>
            <a:ext cx="143448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FFFFFF"/>
                </a:solidFill>
              </a:rPr>
              <a:t>Как это работает? Сбор данных</a:t>
            </a:r>
            <a:endParaRPr sz="7000"/>
          </a:p>
        </p:txBody>
      </p:sp>
      <p:grpSp>
        <p:nvGrpSpPr>
          <p:cNvPr id="118" name="Google Shape;118;p18"/>
          <p:cNvGrpSpPr/>
          <p:nvPr/>
        </p:nvGrpSpPr>
        <p:grpSpPr>
          <a:xfrm>
            <a:off x="765371" y="-10169515"/>
            <a:ext cx="16757258" cy="11696055"/>
            <a:chOff x="0" y="0"/>
            <a:chExt cx="22343010" cy="15594740"/>
          </a:xfrm>
        </p:grpSpPr>
        <p:sp>
          <p:nvSpPr>
            <p:cNvPr id="119" name="Google Shape;119;p18"/>
            <p:cNvSpPr/>
            <p:nvPr/>
          </p:nvSpPr>
          <p:spPr>
            <a:xfrm>
              <a:off x="0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20" name="Google Shape;120;p18"/>
            <p:cNvSpPr/>
            <p:nvPr/>
          </p:nvSpPr>
          <p:spPr>
            <a:xfrm>
              <a:off x="11171505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pic>
        <p:nvPicPr>
          <p:cNvPr id="121" name="Google Shape;121;p18"/>
          <p:cNvPicPr preferRelativeResize="0"/>
          <p:nvPr/>
        </p:nvPicPr>
        <p:blipFill rotWithShape="1">
          <a:blip r:embed="rId4">
            <a:alphaModFix/>
          </a:blip>
          <a:srcRect b="0" l="0" r="56997" t="39701"/>
          <a:stretch/>
        </p:blipFill>
        <p:spPr>
          <a:xfrm>
            <a:off x="765375" y="3429000"/>
            <a:ext cx="5016417" cy="626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8"/>
          <p:cNvSpPr txBox="1"/>
          <p:nvPr/>
        </p:nvSpPr>
        <p:spPr>
          <a:xfrm>
            <a:off x="5957875" y="3429000"/>
            <a:ext cx="9275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Montserrat"/>
              <a:buAutoNum type="arabicParenR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560 PDF-файлов рекомендаций https://cr.minzdrav.gov.ru/clin-rec: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lphaLcParenR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Извлечение текста (fitz)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AutoNum type="alphaLcParenR"/>
            </a:pPr>
            <a:r>
              <a:rPr lang="en-US" sz="2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Нормализация: исправление обрывов строк, удаление артефактов</a:t>
            </a:r>
            <a:endParaRPr sz="2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23" name="Google Shape;123;p18"/>
          <p:cNvCxnSpPr/>
          <p:nvPr/>
        </p:nvCxnSpPr>
        <p:spPr>
          <a:xfrm>
            <a:off x="9227900" y="5067300"/>
            <a:ext cx="1143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24" name="Google Shape;124;p18"/>
          <p:cNvPicPr preferRelativeResize="0"/>
          <p:nvPr/>
        </p:nvPicPr>
        <p:blipFill rotWithShape="1">
          <a:blip r:embed="rId5">
            <a:alphaModFix/>
          </a:blip>
          <a:srcRect b="44234" l="0" r="20823" t="0"/>
          <a:stretch/>
        </p:blipFill>
        <p:spPr>
          <a:xfrm>
            <a:off x="11212200" y="4877525"/>
            <a:ext cx="6701927" cy="478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9"/>
          <p:cNvSpPr/>
          <p:nvPr/>
        </p:nvSpPr>
        <p:spPr>
          <a:xfrm>
            <a:off x="1048275" y="66910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Клиническая рекомендация</a:t>
            </a:r>
            <a:endParaRPr sz="2400"/>
          </a:p>
        </p:txBody>
      </p:sp>
      <p:sp>
        <p:nvSpPr>
          <p:cNvPr id="130" name="Google Shape;130;p19"/>
          <p:cNvSpPr/>
          <p:nvPr/>
        </p:nvSpPr>
        <p:spPr>
          <a:xfrm>
            <a:off x="6364648" y="66910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Поиск совпадений</a:t>
            </a:r>
            <a:endParaRPr sz="2400"/>
          </a:p>
        </p:txBody>
      </p:sp>
      <p:sp>
        <p:nvSpPr>
          <p:cNvPr id="131" name="Google Shape;131;p19"/>
          <p:cNvSpPr/>
          <p:nvPr/>
        </p:nvSpPr>
        <p:spPr>
          <a:xfrm>
            <a:off x="11681020" y="66910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Список совпадений с контекстом</a:t>
            </a:r>
            <a:endParaRPr sz="2400"/>
          </a:p>
        </p:txBody>
      </p:sp>
      <p:sp>
        <p:nvSpPr>
          <p:cNvPr id="132" name="Google Shape;132;p19"/>
          <p:cNvSpPr txBox="1"/>
          <p:nvPr/>
        </p:nvSpPr>
        <p:spPr>
          <a:xfrm>
            <a:off x="765375" y="3704500"/>
            <a:ext cx="154176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AutoNum type="arabicParenR" startAt="3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Алгоритм Ахо-Корасик: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lphaLcParenR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Создаём словарь маркеров (препараты, слова и их словоформы)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lphaLcParenR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Поиск всех совпадений в тексте (O(n + m + z))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AutoNum type="alphaLcParenR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Вырезаем ±N слов вокруг маркера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1009600" y="2270175"/>
            <a:ext cx="15697500" cy="23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FFFFFF"/>
                </a:solidFill>
              </a:rPr>
              <a:t>Как это работает? Поиск совпадений</a:t>
            </a:r>
            <a:endParaRPr sz="70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0">
              <a:solidFill>
                <a:srgbClr val="FFFFFF"/>
              </a:solidFill>
            </a:endParaRPr>
          </a:p>
        </p:txBody>
      </p:sp>
      <p:grpSp>
        <p:nvGrpSpPr>
          <p:cNvPr id="134" name="Google Shape;134;p19"/>
          <p:cNvGrpSpPr/>
          <p:nvPr/>
        </p:nvGrpSpPr>
        <p:grpSpPr>
          <a:xfrm>
            <a:off x="765371" y="-10169515"/>
            <a:ext cx="16757258" cy="11696055"/>
            <a:chOff x="0" y="0"/>
            <a:chExt cx="22343010" cy="15594740"/>
          </a:xfrm>
        </p:grpSpPr>
        <p:sp>
          <p:nvSpPr>
            <p:cNvPr id="135" name="Google Shape;135;p19"/>
            <p:cNvSpPr/>
            <p:nvPr/>
          </p:nvSpPr>
          <p:spPr>
            <a:xfrm>
              <a:off x="0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36" name="Google Shape;136;p19"/>
            <p:cNvSpPr/>
            <p:nvPr/>
          </p:nvSpPr>
          <p:spPr>
            <a:xfrm>
              <a:off x="11171505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cxnSp>
        <p:nvCxnSpPr>
          <p:cNvPr id="137" name="Google Shape;137;p19"/>
          <p:cNvCxnSpPr>
            <a:stCxn id="129" idx="0"/>
            <a:endCxn id="130" idx="2"/>
          </p:cNvCxnSpPr>
          <p:nvPr/>
        </p:nvCxnSpPr>
        <p:spPr>
          <a:xfrm>
            <a:off x="4750575" y="7984300"/>
            <a:ext cx="1614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8" name="Google Shape;138;p19"/>
          <p:cNvCxnSpPr>
            <a:stCxn id="130" idx="0"/>
            <a:endCxn id="131" idx="2"/>
          </p:cNvCxnSpPr>
          <p:nvPr/>
        </p:nvCxnSpPr>
        <p:spPr>
          <a:xfrm>
            <a:off x="10066948" y="7984300"/>
            <a:ext cx="1614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/>
          <p:nvPr/>
        </p:nvSpPr>
        <p:spPr>
          <a:xfrm>
            <a:off x="1009600" y="2270175"/>
            <a:ext cx="156975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0">
                <a:solidFill>
                  <a:srgbClr val="FFFFFF"/>
                </a:solidFill>
              </a:rPr>
              <a:t>Как это работает? Анализ контекста</a:t>
            </a:r>
            <a:endParaRPr sz="7000">
              <a:solidFill>
                <a:srgbClr val="FFFFFF"/>
              </a:solidFill>
            </a:endParaRPr>
          </a:p>
        </p:txBody>
      </p:sp>
      <p:grpSp>
        <p:nvGrpSpPr>
          <p:cNvPr id="144" name="Google Shape;144;p20"/>
          <p:cNvGrpSpPr/>
          <p:nvPr/>
        </p:nvGrpSpPr>
        <p:grpSpPr>
          <a:xfrm>
            <a:off x="765371" y="-10169515"/>
            <a:ext cx="16757258" cy="11696055"/>
            <a:chOff x="0" y="0"/>
            <a:chExt cx="22343010" cy="15594740"/>
          </a:xfrm>
        </p:grpSpPr>
        <p:sp>
          <p:nvSpPr>
            <p:cNvPr id="145" name="Google Shape;145;p20"/>
            <p:cNvSpPr/>
            <p:nvPr/>
          </p:nvSpPr>
          <p:spPr>
            <a:xfrm>
              <a:off x="0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46" name="Google Shape;146;p20"/>
            <p:cNvSpPr/>
            <p:nvPr/>
          </p:nvSpPr>
          <p:spPr>
            <a:xfrm>
              <a:off x="11171505" y="0"/>
              <a:ext cx="11171505" cy="15594740"/>
            </a:xfrm>
            <a:custGeom>
              <a:rect b="b" l="l" r="r" t="t"/>
              <a:pathLst>
                <a:path extrusionOk="0" h="15594740" w="11171505">
                  <a:moveTo>
                    <a:pt x="0" y="0"/>
                  </a:moveTo>
                  <a:lnTo>
                    <a:pt x="11171505" y="0"/>
                  </a:lnTo>
                  <a:lnTo>
                    <a:pt x="11171505" y="15594740"/>
                  </a:lnTo>
                  <a:lnTo>
                    <a:pt x="0" y="1559474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47" name="Google Shape;147;p20"/>
          <p:cNvSpPr/>
          <p:nvPr/>
        </p:nvSpPr>
        <p:spPr>
          <a:xfrm>
            <a:off x="1048275" y="66911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Инструкция</a:t>
            </a:r>
            <a:endParaRPr sz="2400"/>
          </a:p>
        </p:txBody>
      </p:sp>
      <p:sp>
        <p:nvSpPr>
          <p:cNvPr id="148" name="Google Shape;148;p20"/>
          <p:cNvSpPr/>
          <p:nvPr/>
        </p:nvSpPr>
        <p:spPr>
          <a:xfrm>
            <a:off x="6364446" y="66911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Анализ контекста языковой моделью</a:t>
            </a:r>
            <a:endParaRPr sz="2400"/>
          </a:p>
        </p:txBody>
      </p:sp>
      <p:sp>
        <p:nvSpPr>
          <p:cNvPr id="149" name="Google Shape;149;p20"/>
          <p:cNvSpPr/>
          <p:nvPr/>
        </p:nvSpPr>
        <p:spPr>
          <a:xfrm>
            <a:off x="11680617" y="6691100"/>
            <a:ext cx="3702300" cy="25866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УДД: &lt;значение&gt;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УУР: &lt;значение&gt;</a:t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Тип: &lt;тип&gt;</a:t>
            </a:r>
            <a:endParaRPr sz="2400"/>
          </a:p>
        </p:txBody>
      </p:sp>
      <p:cxnSp>
        <p:nvCxnSpPr>
          <p:cNvPr id="150" name="Google Shape;150;p20"/>
          <p:cNvCxnSpPr>
            <a:stCxn id="147" idx="0"/>
            <a:endCxn id="148" idx="2"/>
          </p:cNvCxnSpPr>
          <p:nvPr/>
        </p:nvCxnSpPr>
        <p:spPr>
          <a:xfrm>
            <a:off x="4750575" y="7984400"/>
            <a:ext cx="1614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1" name="Google Shape;151;p20"/>
          <p:cNvCxnSpPr>
            <a:stCxn id="148" idx="0"/>
            <a:endCxn id="149" idx="2"/>
          </p:cNvCxnSpPr>
          <p:nvPr/>
        </p:nvCxnSpPr>
        <p:spPr>
          <a:xfrm>
            <a:off x="10066746" y="7984400"/>
            <a:ext cx="1614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2" name="Google Shape;152;p20"/>
          <p:cNvSpPr txBox="1"/>
          <p:nvPr/>
        </p:nvSpPr>
        <p:spPr>
          <a:xfrm>
            <a:off x="765375" y="3704500"/>
            <a:ext cx="16757400" cy="23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937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AutoNum type="arabicParenR" startAt="4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Используем LLM для определения контекста: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lphaLcParenR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Передаём название препарата и инструкцию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AutoNum type="alphaLcParenR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Передаём контекст упоминания препарата</a:t>
            </a:r>
            <a:endParaRPr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937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Font typeface="Montserrat"/>
              <a:buAutoNum type="alphaLcParenR"/>
            </a:pPr>
            <a:r>
              <a:rPr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Просим сформировать ответ в формате  </a:t>
            </a:r>
            <a:r>
              <a:rPr i="1" lang="en-US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УДД: &lt;значение&gt; УУР: &lt;значение&gt; Тип: &lt;тип&gt;</a:t>
            </a:r>
            <a:endParaRPr i="1" sz="26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1"/>
          <p:cNvSpPr txBox="1"/>
          <p:nvPr/>
        </p:nvSpPr>
        <p:spPr>
          <a:xfrm>
            <a:off x="1328920" y="717819"/>
            <a:ext cx="93360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FFFFFF"/>
                </a:solidFill>
              </a:rPr>
              <a:t>МОДЕЛЬ</a:t>
            </a:r>
            <a:endParaRPr/>
          </a:p>
        </p:txBody>
      </p:sp>
      <p:sp>
        <p:nvSpPr>
          <p:cNvPr id="158" name="Google Shape;158;p21"/>
          <p:cNvSpPr/>
          <p:nvPr/>
        </p:nvSpPr>
        <p:spPr>
          <a:xfrm>
            <a:off x="1328925" y="2659700"/>
            <a:ext cx="2239500" cy="1385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Клинические рекомендации</a:t>
            </a:r>
            <a:endParaRPr sz="1600"/>
          </a:p>
        </p:txBody>
      </p:sp>
      <p:pic>
        <p:nvPicPr>
          <p:cNvPr id="159" name="Google Shape;159;p21" title="free-icon-database-9850812.png"/>
          <p:cNvPicPr preferRelativeResize="0"/>
          <p:nvPr/>
        </p:nvPicPr>
        <p:blipFill rotWithShape="1">
          <a:blip r:embed="rId3">
            <a:alphaModFix/>
          </a:blip>
          <a:srcRect b="0" l="14268" r="13960" t="0"/>
          <a:stretch/>
        </p:blipFill>
        <p:spPr>
          <a:xfrm>
            <a:off x="3136425" y="4241625"/>
            <a:ext cx="1435575" cy="20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1"/>
          <p:cNvSpPr/>
          <p:nvPr/>
        </p:nvSpPr>
        <p:spPr>
          <a:xfrm>
            <a:off x="4177400" y="2659700"/>
            <a:ext cx="2239500" cy="1385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Чёрный список препаратов и слова-маркеры</a:t>
            </a:r>
            <a:endParaRPr sz="1600"/>
          </a:p>
        </p:txBody>
      </p:sp>
      <p:cxnSp>
        <p:nvCxnSpPr>
          <p:cNvPr id="161" name="Google Shape;161;p21"/>
          <p:cNvCxnSpPr>
            <a:stCxn id="158" idx="0"/>
            <a:endCxn id="159" idx="0"/>
          </p:cNvCxnSpPr>
          <p:nvPr/>
        </p:nvCxnSpPr>
        <p:spPr>
          <a:xfrm>
            <a:off x="3568425" y="3352400"/>
            <a:ext cx="285900" cy="889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1"/>
          <p:cNvCxnSpPr>
            <a:stCxn id="160" idx="2"/>
            <a:endCxn id="159" idx="0"/>
          </p:cNvCxnSpPr>
          <p:nvPr/>
        </p:nvCxnSpPr>
        <p:spPr>
          <a:xfrm flipH="1">
            <a:off x="3854300" y="3352400"/>
            <a:ext cx="323100" cy="8892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3" name="Google Shape;163;p21" title="free-icon-artificial-intelligence-46328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0325" y="4241625"/>
            <a:ext cx="2000325" cy="20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1"/>
          <p:cNvSpPr/>
          <p:nvPr/>
        </p:nvSpPr>
        <p:spPr>
          <a:xfrm>
            <a:off x="8909813" y="2583100"/>
            <a:ext cx="2239500" cy="1385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Поиск совпадений.</a:t>
            </a:r>
            <a:br>
              <a:rPr lang="en-US" sz="1600"/>
            </a:br>
            <a:r>
              <a:rPr lang="en-US" sz="1600"/>
              <a:t>Формирование контекста</a:t>
            </a:r>
            <a:endParaRPr sz="1600"/>
          </a:p>
        </p:txBody>
      </p:sp>
      <p:sp>
        <p:nvSpPr>
          <p:cNvPr id="165" name="Google Shape;165;p21"/>
          <p:cNvSpPr/>
          <p:nvPr/>
        </p:nvSpPr>
        <p:spPr>
          <a:xfrm>
            <a:off x="8909825" y="4549088"/>
            <a:ext cx="2239500" cy="1385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Анализ контекста</a:t>
            </a:r>
            <a:endParaRPr sz="1600"/>
          </a:p>
        </p:txBody>
      </p:sp>
      <p:cxnSp>
        <p:nvCxnSpPr>
          <p:cNvPr id="166" name="Google Shape;166;p21"/>
          <p:cNvCxnSpPr>
            <a:stCxn id="164" idx="1"/>
            <a:endCxn id="165" idx="3"/>
          </p:cNvCxnSpPr>
          <p:nvPr/>
        </p:nvCxnSpPr>
        <p:spPr>
          <a:xfrm>
            <a:off x="10029563" y="3968500"/>
            <a:ext cx="0" cy="580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1"/>
          <p:cNvCxnSpPr>
            <a:stCxn id="163" idx="3"/>
            <a:endCxn id="164" idx="2"/>
          </p:cNvCxnSpPr>
          <p:nvPr/>
        </p:nvCxnSpPr>
        <p:spPr>
          <a:xfrm flipH="1" rot="10800000">
            <a:off x="7690650" y="3275887"/>
            <a:ext cx="1219200" cy="19659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1"/>
          <p:cNvCxnSpPr>
            <a:stCxn id="159" idx="3"/>
            <a:endCxn id="163" idx="1"/>
          </p:cNvCxnSpPr>
          <p:nvPr/>
        </p:nvCxnSpPr>
        <p:spPr>
          <a:xfrm>
            <a:off x="4572000" y="5241788"/>
            <a:ext cx="11184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1"/>
          <p:cNvSpPr/>
          <p:nvPr/>
        </p:nvSpPr>
        <p:spPr>
          <a:xfrm>
            <a:off x="5570725" y="7535325"/>
            <a:ext cx="2239500" cy="13854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lt2"/>
          </a:solidFill>
          <a:ln cap="flat" cmpd="sng" w="76200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Формирование отчёта</a:t>
            </a:r>
            <a:endParaRPr sz="1600"/>
          </a:p>
        </p:txBody>
      </p:sp>
      <p:cxnSp>
        <p:nvCxnSpPr>
          <p:cNvPr id="170" name="Google Shape;170;p21"/>
          <p:cNvCxnSpPr>
            <a:stCxn id="169" idx="2"/>
            <a:endCxn id="171" idx="3"/>
          </p:cNvCxnSpPr>
          <p:nvPr/>
        </p:nvCxnSpPr>
        <p:spPr>
          <a:xfrm rot="10800000">
            <a:off x="3568525" y="8228025"/>
            <a:ext cx="2002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2" name="Google Shape;172;p21"/>
          <p:cNvCxnSpPr>
            <a:stCxn id="165" idx="2"/>
            <a:endCxn id="163" idx="3"/>
          </p:cNvCxnSpPr>
          <p:nvPr/>
        </p:nvCxnSpPr>
        <p:spPr>
          <a:xfrm rot="10800000">
            <a:off x="7690625" y="5241788"/>
            <a:ext cx="1219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3" name="Google Shape;173;p21"/>
          <p:cNvCxnSpPr>
            <a:stCxn id="163" idx="2"/>
            <a:endCxn id="169" idx="3"/>
          </p:cNvCxnSpPr>
          <p:nvPr/>
        </p:nvCxnSpPr>
        <p:spPr>
          <a:xfrm>
            <a:off x="6690488" y="6241950"/>
            <a:ext cx="0" cy="12933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71" name="Google Shape;171;p21" title="free-icon-pdf-337946.png"/>
          <p:cNvPicPr preferRelativeResize="0"/>
          <p:nvPr/>
        </p:nvPicPr>
        <p:blipFill rotWithShape="1">
          <a:blip r:embed="rId5">
            <a:alphaModFix/>
          </a:blip>
          <a:srcRect b="0" l="0" r="7141" t="0"/>
          <a:stretch/>
        </p:blipFill>
        <p:spPr>
          <a:xfrm>
            <a:off x="1328925" y="7022201"/>
            <a:ext cx="2239500" cy="241164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1"/>
          <p:cNvSpPr/>
          <p:nvPr/>
        </p:nvSpPr>
        <p:spPr>
          <a:xfrm>
            <a:off x="13779412" y="867125"/>
            <a:ext cx="8259635" cy="8229600"/>
          </a:xfrm>
          <a:custGeom>
            <a:rect b="b" l="l" r="r" t="t"/>
            <a:pathLst>
              <a:path extrusionOk="0"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2"/>
          <p:cNvSpPr/>
          <p:nvPr/>
        </p:nvSpPr>
        <p:spPr>
          <a:xfrm>
            <a:off x="13779412" y="867125"/>
            <a:ext cx="8259635" cy="8229600"/>
          </a:xfrm>
          <a:custGeom>
            <a:rect b="b" l="l" r="r" t="t"/>
            <a:pathLst>
              <a:path extrusionOk="0" h="8229600" w="8259635">
                <a:moveTo>
                  <a:pt x="0" y="0"/>
                </a:moveTo>
                <a:lnTo>
                  <a:pt x="8259635" y="0"/>
                </a:lnTo>
                <a:lnTo>
                  <a:pt x="8259635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0" name="Google Shape;180;p22"/>
          <p:cNvSpPr txBox="1"/>
          <p:nvPr/>
        </p:nvSpPr>
        <p:spPr>
          <a:xfrm>
            <a:off x="1274445" y="700919"/>
            <a:ext cx="933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>
                <a:solidFill>
                  <a:srgbClr val="FFFFFF"/>
                </a:solidFill>
              </a:rPr>
              <a:t>Пример отчёта</a:t>
            </a:r>
            <a:endParaRPr sz="9000"/>
          </a:p>
        </p:txBody>
      </p:sp>
      <p:cxnSp>
        <p:nvCxnSpPr>
          <p:cNvPr id="181" name="Google Shape;181;p22"/>
          <p:cNvCxnSpPr>
            <a:stCxn id="182" idx="1"/>
            <a:endCxn id="183" idx="3"/>
          </p:cNvCxnSpPr>
          <p:nvPr/>
        </p:nvCxnSpPr>
        <p:spPr>
          <a:xfrm>
            <a:off x="10029563" y="3968500"/>
            <a:ext cx="0" cy="58050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84" name="Google Shape;184;p22"/>
          <p:cNvPicPr preferRelativeResize="0"/>
          <p:nvPr/>
        </p:nvPicPr>
        <p:blipFill rotWithShape="1">
          <a:blip r:embed="rId4">
            <a:alphaModFix/>
          </a:blip>
          <a:srcRect b="0" l="0" r="38477" t="0"/>
          <a:stretch/>
        </p:blipFill>
        <p:spPr>
          <a:xfrm>
            <a:off x="448600" y="2383125"/>
            <a:ext cx="12323998" cy="735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9" name="Google Shape;189;p23"/>
          <p:cNvGrpSpPr/>
          <p:nvPr/>
        </p:nvGrpSpPr>
        <p:grpSpPr>
          <a:xfrm rot="10800000">
            <a:off x="12068175" y="827405"/>
            <a:ext cx="10382250" cy="15830550"/>
            <a:chOff x="0" y="0"/>
            <a:chExt cx="13843000" cy="21107400"/>
          </a:xfrm>
        </p:grpSpPr>
        <p:sp>
          <p:nvSpPr>
            <p:cNvPr id="190" name="Google Shape;190;p23"/>
            <p:cNvSpPr/>
            <p:nvPr/>
          </p:nvSpPr>
          <p:spPr>
            <a:xfrm>
              <a:off x="2489200" y="445770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1" name="Google Shape;191;p23"/>
            <p:cNvSpPr/>
            <p:nvPr/>
          </p:nvSpPr>
          <p:spPr>
            <a:xfrm>
              <a:off x="0" y="1051560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192" name="Google Shape;192;p23"/>
            <p:cNvSpPr/>
            <p:nvPr/>
          </p:nvSpPr>
          <p:spPr>
            <a:xfrm>
              <a:off x="3251200" y="0"/>
              <a:ext cx="10591800" cy="10591800"/>
            </a:xfrm>
            <a:custGeom>
              <a:rect b="b" l="l" r="r" t="t"/>
              <a:pathLst>
                <a:path extrusionOk="0" h="10591800" w="10591800">
                  <a:moveTo>
                    <a:pt x="0" y="0"/>
                  </a:moveTo>
                  <a:lnTo>
                    <a:pt x="10591800" y="0"/>
                  </a:lnTo>
                  <a:lnTo>
                    <a:pt x="10591800" y="10591800"/>
                  </a:lnTo>
                  <a:lnTo>
                    <a:pt x="0" y="10591800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193" name="Google Shape;193;p23"/>
          <p:cNvSpPr txBox="1"/>
          <p:nvPr/>
        </p:nvSpPr>
        <p:spPr>
          <a:xfrm>
            <a:off x="1847850" y="1471613"/>
            <a:ext cx="11503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7200">
                <a:solidFill>
                  <a:srgbClr val="FFFFFF"/>
                </a:solidFill>
              </a:rPr>
              <a:t> </a:t>
            </a:r>
            <a:r>
              <a:rPr lang="en-US" sz="7000">
                <a:solidFill>
                  <a:schemeClr val="lt1"/>
                </a:solidFill>
              </a:rPr>
              <a:t>Что мы нашли?</a:t>
            </a:r>
            <a:endParaRPr sz="7000">
              <a:solidFill>
                <a:schemeClr val="lt1"/>
              </a:solidFill>
            </a:endParaRPr>
          </a:p>
        </p:txBody>
      </p:sp>
      <p:sp>
        <p:nvSpPr>
          <p:cNvPr id="194" name="Google Shape;194;p23"/>
          <p:cNvSpPr txBox="1"/>
          <p:nvPr/>
        </p:nvSpPr>
        <p:spPr>
          <a:xfrm>
            <a:off x="261000" y="3476550"/>
            <a:ext cx="154176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983 упоминаний (596 — «расстрельный список», 387 — слова-маркеры)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23"/>
          <p:cNvSpPr txBox="1"/>
          <p:nvPr/>
        </p:nvSpPr>
        <p:spPr>
          <a:xfrm>
            <a:off x="2544550" y="4169250"/>
            <a:ext cx="30000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 5: 1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 1: 4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 2: 16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 3: 14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 4: 25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C 5: 165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537600" y="8278950"/>
            <a:ext cx="3958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Остальное: 690</a:t>
            </a:r>
            <a:endParaRPr sz="3000">
              <a:solidFill>
                <a:schemeClr val="dk1"/>
              </a:solidFill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261000" y="4169250"/>
            <a:ext cx="3000000" cy="41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1: 11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 2: 2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 3: 2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 1: 13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 2: 20 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 3: 20 </a:t>
            </a:r>
            <a:endParaRPr/>
          </a:p>
        </p:txBody>
      </p:sp>
      <p:pic>
        <p:nvPicPr>
          <p:cNvPr id="198" name="Google Shape;198;p23" title="qr-code (6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10676" y="4169251"/>
            <a:ext cx="5273974" cy="52739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9" name="Google Shape;199;p23"/>
          <p:cNvCxnSpPr/>
          <p:nvPr/>
        </p:nvCxnSpPr>
        <p:spPr>
          <a:xfrm>
            <a:off x="4767250" y="6806250"/>
            <a:ext cx="2843400" cy="0"/>
          </a:xfrm>
          <a:prstGeom prst="straightConnector1">
            <a:avLst/>
          </a:prstGeom>
          <a:noFill/>
          <a:ln cap="flat" cmpd="sng" w="38100">
            <a:solidFill>
              <a:srgbClr val="F14C2B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0" name="Google Shape;200;p23"/>
          <p:cNvSpPr txBox="1"/>
          <p:nvPr/>
        </p:nvSpPr>
        <p:spPr>
          <a:xfrm>
            <a:off x="5028225" y="6067350"/>
            <a:ext cx="12527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14C2B"/>
                </a:solidFill>
              </a:rPr>
              <a:t>Таблица</a:t>
            </a:r>
            <a:endParaRPr sz="3600">
              <a:solidFill>
                <a:srgbClr val="F14C2B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"/>
          <p:cNvSpPr/>
          <p:nvPr/>
        </p:nvSpPr>
        <p:spPr>
          <a:xfrm>
            <a:off x="10268150" y="590750"/>
            <a:ext cx="11135678" cy="11135678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6" name="Google Shape;206;p24"/>
          <p:cNvGrpSpPr/>
          <p:nvPr/>
        </p:nvGrpSpPr>
        <p:grpSpPr>
          <a:xfrm>
            <a:off x="1847875" y="904738"/>
            <a:ext cx="14156328" cy="6548937"/>
            <a:chOff x="33" y="-1181283"/>
            <a:chExt cx="18875104" cy="8731916"/>
          </a:xfrm>
        </p:grpSpPr>
        <p:sp>
          <p:nvSpPr>
            <p:cNvPr id="207" name="Google Shape;207;p24"/>
            <p:cNvSpPr txBox="1"/>
            <p:nvPr/>
          </p:nvSpPr>
          <p:spPr>
            <a:xfrm>
              <a:off x="33" y="2317133"/>
              <a:ext cx="15337800" cy="523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3850" lvl="1" marL="6477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Char char="•"/>
              </a:pPr>
              <a:r>
                <a:rPr lang="en-US" sz="3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Препараты с недоказанной эффективностью имеют высший уровень доверия (A1)</a:t>
              </a:r>
              <a:endParaRPr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23850" lvl="1" marL="6477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Char char="•"/>
              </a:pPr>
              <a:r>
                <a:rPr lang="en-US" sz="3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В среднем 2 упоминания псевдонаучного материала на 1 клиническую рекомендацию</a:t>
              </a:r>
              <a:endParaRPr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23850" lvl="1" marL="6477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Char char="•"/>
              </a:pPr>
              <a:r>
                <a:rPr lang="en-US" sz="3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Врачи ориентируются на рекомендации, что влияет на лечение миллионов пациентов</a:t>
              </a:r>
              <a:endParaRPr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08" name="Google Shape;208;p24"/>
            <p:cNvSpPr txBox="1"/>
            <p:nvPr/>
          </p:nvSpPr>
          <p:spPr>
            <a:xfrm>
              <a:off x="37" y="-1181283"/>
              <a:ext cx="188751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SzPts val="1100"/>
                <a:buNone/>
              </a:pPr>
              <a:r>
                <a:rPr lang="en-US" sz="9000">
                  <a:solidFill>
                    <a:srgbClr val="FFFFFF"/>
                  </a:solidFill>
                </a:rPr>
                <a:t>Почему это тревожно?</a:t>
              </a:r>
              <a:endParaRPr sz="90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"/>
          <p:cNvSpPr/>
          <p:nvPr/>
        </p:nvSpPr>
        <p:spPr>
          <a:xfrm rot="-4666841">
            <a:off x="10379889" y="-848680"/>
            <a:ext cx="12393727" cy="12212347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4" name="Google Shape;214;p25"/>
          <p:cNvGrpSpPr/>
          <p:nvPr/>
        </p:nvGrpSpPr>
        <p:grpSpPr>
          <a:xfrm>
            <a:off x="1847863" y="904694"/>
            <a:ext cx="11503362" cy="3672581"/>
            <a:chOff x="17" y="-1181342"/>
            <a:chExt cx="15337817" cy="4896775"/>
          </a:xfrm>
        </p:grpSpPr>
        <p:sp>
          <p:nvSpPr>
            <p:cNvPr id="215" name="Google Shape;215;p25"/>
            <p:cNvSpPr txBox="1"/>
            <p:nvPr/>
          </p:nvSpPr>
          <p:spPr>
            <a:xfrm>
              <a:off x="33" y="1252733"/>
              <a:ext cx="15337800" cy="246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-323850" lvl="1" marL="6477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Char char="•"/>
              </a:pPr>
              <a:r>
                <a:rPr lang="en-US" sz="3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Неэффективное лечение</a:t>
              </a:r>
              <a:endParaRPr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23850" lvl="1" marL="6477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Char char="•"/>
              </a:pPr>
              <a:r>
                <a:rPr lang="en-US" sz="3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Потеря доверия к медицине</a:t>
              </a:r>
              <a:endParaRPr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indent="-323850" lvl="1" marL="647700" marR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000"/>
                <a:buChar char="•"/>
              </a:pPr>
              <a:r>
                <a:rPr lang="en-US" sz="3000">
                  <a:solidFill>
                    <a:schemeClr val="lt1"/>
                  </a:solidFill>
                  <a:latin typeface="Montserrat"/>
                  <a:ea typeface="Montserrat"/>
                  <a:cs typeface="Montserrat"/>
                  <a:sym typeface="Montserrat"/>
                </a:rPr>
                <a:t>Рост расходов на здравоохранение</a:t>
              </a:r>
              <a:endParaRPr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sp>
          <p:nvSpPr>
            <p:cNvPr id="216" name="Google Shape;216;p25"/>
            <p:cNvSpPr txBox="1"/>
            <p:nvPr/>
          </p:nvSpPr>
          <p:spPr>
            <a:xfrm>
              <a:off x="17" y="-1181342"/>
              <a:ext cx="15337800" cy="184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SzPts val="1100"/>
                <a:buNone/>
              </a:pPr>
              <a:r>
                <a:rPr lang="en-US" sz="9000">
                  <a:solidFill>
                    <a:srgbClr val="FFFFFF"/>
                  </a:solidFill>
                </a:rPr>
                <a:t>Последствия</a:t>
              </a:r>
              <a:endParaRPr sz="9000">
                <a:solidFill>
                  <a:srgbClr val="FFFFFF"/>
                </a:solidFill>
              </a:endParaRPr>
            </a:p>
          </p:txBody>
        </p:sp>
      </p:grpSp>
      <p:sp>
        <p:nvSpPr>
          <p:cNvPr id="217" name="Google Shape;217;p25"/>
          <p:cNvSpPr txBox="1"/>
          <p:nvPr/>
        </p:nvSpPr>
        <p:spPr>
          <a:xfrm>
            <a:off x="76200" y="5296275"/>
            <a:ext cx="10164900" cy="13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highlight>
                  <a:srgbClr val="B43920"/>
                </a:highlight>
              </a:rPr>
              <a:t>Глаукома первичная открытоугольная</a:t>
            </a:r>
            <a:endParaRPr sz="3000">
              <a:solidFill>
                <a:schemeClr val="lt1"/>
              </a:solidFill>
              <a:highlight>
                <a:srgbClr val="B43920"/>
              </a:highlight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chemeClr val="lt1"/>
                </a:solidFill>
                <a:highlight>
                  <a:srgbClr val="B43920"/>
                </a:highlight>
              </a:rPr>
              <a:t>Полипептиды сетчатки глаз скота - А1 рекомендация</a:t>
            </a:r>
            <a:endParaRPr sz="3000">
              <a:solidFill>
                <a:schemeClr val="lt1"/>
              </a:solidFill>
              <a:highlight>
                <a:srgbClr val="B43920"/>
              </a:highlight>
            </a:endParaRPr>
          </a:p>
        </p:txBody>
      </p:sp>
      <p:pic>
        <p:nvPicPr>
          <p:cNvPr id="218" name="Google Shape;218;p25" title="qr-code (4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823300" y="4855913"/>
            <a:ext cx="2219924" cy="2219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9" name="Google Shape;219;p25"/>
          <p:cNvCxnSpPr>
            <a:stCxn id="217" idx="3"/>
            <a:endCxn id="218" idx="1"/>
          </p:cNvCxnSpPr>
          <p:nvPr/>
        </p:nvCxnSpPr>
        <p:spPr>
          <a:xfrm>
            <a:off x="10241100" y="5965875"/>
            <a:ext cx="15822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20" name="Google Shape;220;p25"/>
          <p:cNvSpPr txBox="1"/>
          <p:nvPr/>
        </p:nvSpPr>
        <p:spPr>
          <a:xfrm>
            <a:off x="4702000" y="7608575"/>
            <a:ext cx="92649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  <a:highlight>
                  <a:srgbClr val="B43920"/>
                </a:highlight>
              </a:rPr>
              <a:t>Злокачественные новообразования </a:t>
            </a:r>
            <a:r>
              <a:rPr lang="en-US" sz="3000">
                <a:solidFill>
                  <a:schemeClr val="lt1"/>
                </a:solidFill>
                <a:highlight>
                  <a:srgbClr val="B43920"/>
                </a:highlight>
              </a:rPr>
              <a:t>полости рта Рефлексотерапия/акупунктура - B1 рекомендация</a:t>
            </a:r>
            <a:endParaRPr sz="3000">
              <a:solidFill>
                <a:schemeClr val="lt1"/>
              </a:solidFill>
              <a:highlight>
                <a:srgbClr val="B43920"/>
              </a:highlight>
            </a:endParaRPr>
          </a:p>
        </p:txBody>
      </p:sp>
      <p:pic>
        <p:nvPicPr>
          <p:cNvPr id="221" name="Google Shape;221;p25" title="qr-code (5)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225" y="7075825"/>
            <a:ext cx="2219924" cy="221992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25"/>
          <p:cNvCxnSpPr>
            <a:stCxn id="220" idx="1"/>
            <a:endCxn id="221" idx="3"/>
          </p:cNvCxnSpPr>
          <p:nvPr/>
        </p:nvCxnSpPr>
        <p:spPr>
          <a:xfrm rot="10800000">
            <a:off x="2770000" y="8185775"/>
            <a:ext cx="19320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6"/>
          <p:cNvSpPr txBox="1"/>
          <p:nvPr/>
        </p:nvSpPr>
        <p:spPr>
          <a:xfrm>
            <a:off x="5178577" y="2934759"/>
            <a:ext cx="11229900" cy="3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4000">
                <a:solidFill>
                  <a:srgbClr val="FFFFFF"/>
                </a:solidFill>
              </a:rPr>
              <a:t>Псевдонаука в клинических рекомендациях </a:t>
            </a:r>
            <a:r>
              <a:rPr b="1" lang="en-US" sz="4000">
                <a:solidFill>
                  <a:srgbClr val="FFFFFF"/>
                </a:solidFill>
              </a:rPr>
              <a:t>угрожает здоровью</a:t>
            </a:r>
            <a:r>
              <a:rPr lang="en-US" sz="4000">
                <a:solidFill>
                  <a:srgbClr val="FFFFFF"/>
                </a:solidFill>
              </a:rPr>
              <a:t>.</a:t>
            </a:r>
            <a:r>
              <a:rPr b="1" lang="en-US" sz="4000">
                <a:solidFill>
                  <a:srgbClr val="FFFFFF"/>
                </a:solidFill>
              </a:rPr>
              <a:t> </a:t>
            </a:r>
            <a:endParaRPr b="1" sz="4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5000">
              <a:solidFill>
                <a:srgbClr val="FFFFF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5000">
                <a:solidFill>
                  <a:srgbClr val="FFFFFF"/>
                </a:solidFill>
              </a:rPr>
              <a:t>ИИ и ИТ — наш шанс это исправить!</a:t>
            </a:r>
            <a:endParaRPr sz="5000">
              <a:solidFill>
                <a:srgbClr val="FFFFFF"/>
              </a:solidFill>
            </a:endParaRPr>
          </a:p>
        </p:txBody>
      </p:sp>
      <p:grpSp>
        <p:nvGrpSpPr>
          <p:cNvPr id="228" name="Google Shape;228;p26"/>
          <p:cNvGrpSpPr/>
          <p:nvPr/>
        </p:nvGrpSpPr>
        <p:grpSpPr>
          <a:xfrm>
            <a:off x="-1513532" y="-1844412"/>
            <a:ext cx="5084464" cy="13975825"/>
            <a:chOff x="0" y="0"/>
            <a:chExt cx="6779285" cy="18634433"/>
          </a:xfrm>
        </p:grpSpPr>
        <p:sp>
          <p:nvSpPr>
            <p:cNvPr id="229" name="Google Shape;229;p26"/>
            <p:cNvSpPr/>
            <p:nvPr/>
          </p:nvSpPr>
          <p:spPr>
            <a:xfrm>
              <a:off x="0" y="0"/>
              <a:ext cx="6779285" cy="9735266"/>
            </a:xfrm>
            <a:custGeom>
              <a:rect b="b" l="l" r="r" t="t"/>
              <a:pathLst>
                <a:path extrusionOk="0" h="9735266" w="6779285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30" name="Google Shape;230;p26"/>
            <p:cNvSpPr/>
            <p:nvPr/>
          </p:nvSpPr>
          <p:spPr>
            <a:xfrm>
              <a:off x="0" y="8899167"/>
              <a:ext cx="6779285" cy="9735266"/>
            </a:xfrm>
            <a:custGeom>
              <a:rect b="b" l="l" r="r" t="t"/>
              <a:pathLst>
                <a:path extrusionOk="0" h="9735266" w="6779285">
                  <a:moveTo>
                    <a:pt x="0" y="0"/>
                  </a:moveTo>
                  <a:lnTo>
                    <a:pt x="6779285" y="0"/>
                  </a:lnTo>
                  <a:lnTo>
                    <a:pt x="6779285" y="9735266"/>
                  </a:lnTo>
                  <a:lnTo>
                    <a:pt x="0" y="9735266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"/>
          <p:cNvSpPr/>
          <p:nvPr/>
        </p:nvSpPr>
        <p:spPr>
          <a:xfrm>
            <a:off x="-2995532" y="592993"/>
            <a:ext cx="7876514" cy="9101014"/>
          </a:xfrm>
          <a:custGeom>
            <a:rect b="b" l="l" r="r" t="t"/>
            <a:pathLst>
              <a:path extrusionOk="0" h="9101014" w="7876514">
                <a:moveTo>
                  <a:pt x="0" y="0"/>
                </a:moveTo>
                <a:lnTo>
                  <a:pt x="7876514" y="0"/>
                </a:lnTo>
                <a:lnTo>
                  <a:pt x="7876514" y="9101014"/>
                </a:lnTo>
                <a:lnTo>
                  <a:pt x="0" y="910101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6" name="Google Shape;236;p27"/>
          <p:cNvSpPr txBox="1"/>
          <p:nvPr/>
        </p:nvSpPr>
        <p:spPr>
          <a:xfrm>
            <a:off x="5447197" y="1134575"/>
            <a:ext cx="12295500" cy="253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200">
                <a:solidFill>
                  <a:srgbClr val="FFFFFF"/>
                </a:solidFill>
              </a:rPr>
              <a:t>Как ИИ и ИТ могут помочь?</a:t>
            </a:r>
            <a:endParaRPr sz="7200">
              <a:solidFill>
                <a:srgbClr val="FFFFFF"/>
              </a:solidFill>
            </a:endParaRPr>
          </a:p>
          <a:p>
            <a:pPr indent="0" lvl="0" marL="0" marR="0" rtl="0" algn="l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FFFFFF"/>
              </a:solidFill>
            </a:endParaRPr>
          </a:p>
        </p:txBody>
      </p:sp>
      <p:sp>
        <p:nvSpPr>
          <p:cNvPr id="237" name="Google Shape;237;p27"/>
          <p:cNvSpPr txBox="1"/>
          <p:nvPr/>
        </p:nvSpPr>
        <p:spPr>
          <a:xfrm>
            <a:off x="5447200" y="3429000"/>
            <a:ext cx="12085500" cy="55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0042" lvl="1" marL="6800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50"/>
              <a:buFont typeface="Arial"/>
              <a:buChar char="•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Автоматизация: Анализ тысяч страниц текста за часы</a:t>
            </a:r>
            <a:endParaRPr>
              <a:solidFill>
                <a:schemeClr val="lt1"/>
              </a:solidFill>
            </a:endParaRPr>
          </a:p>
          <a:p>
            <a:pPr indent="-340042" lvl="1" marL="6800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50"/>
              <a:buFont typeface="Arial"/>
              <a:buChar char="•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Прозрачность и открытость: Код и данные на GitHub</a:t>
            </a:r>
            <a:endParaRPr>
              <a:solidFill>
                <a:schemeClr val="lt1"/>
              </a:solidFill>
            </a:endParaRPr>
          </a:p>
          <a:p>
            <a:pPr indent="-340042" lvl="1" marL="680085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50"/>
              <a:buFont typeface="Arial"/>
              <a:buChar char="•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Будущее:</a:t>
            </a:r>
            <a:endParaRPr sz="3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254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Arial"/>
              <a:buChar char="■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Дашборды для мониторинга рекомендаций</a:t>
            </a:r>
            <a:endParaRPr sz="3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254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Arial"/>
              <a:buChar char="■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с медицинскими базами</a:t>
            </a:r>
            <a:endParaRPr sz="3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254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Arial"/>
              <a:buChar char="■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Автоматическая валидация документов</a:t>
            </a:r>
            <a:endParaRPr sz="3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25450" lvl="2" marL="13716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100"/>
              <a:buFont typeface="Montserrat"/>
              <a:buChar char="■"/>
            </a:pPr>
            <a:r>
              <a:rPr lang="en-US" sz="315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Продвинутый ИИ для формирования рекомендаций и контроля качества</a:t>
            </a:r>
            <a:endParaRPr sz="315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/>
        </p:nvSpPr>
        <p:spPr>
          <a:xfrm>
            <a:off x="1028700" y="510675"/>
            <a:ext cx="11133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7000">
                <a:solidFill>
                  <a:srgbClr val="FFFFFF"/>
                </a:solidFill>
              </a:rPr>
              <a:t>Выводы</a:t>
            </a:r>
            <a:endParaRPr sz="7000">
              <a:solidFill>
                <a:srgbClr val="FFFFFF"/>
              </a:solidFill>
            </a:endParaRPr>
          </a:p>
        </p:txBody>
      </p:sp>
      <p:sp>
        <p:nvSpPr>
          <p:cNvPr id="243" name="Google Shape;243;p28"/>
          <p:cNvSpPr txBox="1"/>
          <p:nvPr/>
        </p:nvSpPr>
        <p:spPr>
          <a:xfrm>
            <a:off x="707650" y="1790275"/>
            <a:ext cx="128946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Рекомендации содержат псевдонауку, что угрожает пациентам</a:t>
            </a:r>
            <a:endParaRPr sz="2400">
              <a:solidFill>
                <a:schemeClr val="lt1"/>
              </a:solidFill>
            </a:endParaRPr>
          </a:p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Большие Языковые Модели способны понимать контекст клинических рекомендаций</a:t>
            </a:r>
            <a:endParaRPr sz="2400">
              <a:solidFill>
                <a:schemeClr val="lt1"/>
              </a:solidFill>
            </a:endParaRPr>
          </a:p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Сейчас обнаружение мракобесия зависит от полноты “чёрного списка”</a:t>
            </a:r>
            <a:endParaRPr sz="2400">
              <a:solidFill>
                <a:schemeClr val="lt1"/>
              </a:solidFill>
            </a:endParaRPr>
          </a:p>
        </p:txBody>
      </p:sp>
      <p:grpSp>
        <p:nvGrpSpPr>
          <p:cNvPr id="244" name="Google Shape;244;p28"/>
          <p:cNvGrpSpPr/>
          <p:nvPr/>
        </p:nvGrpSpPr>
        <p:grpSpPr>
          <a:xfrm>
            <a:off x="13900067" y="1028700"/>
            <a:ext cx="7289966" cy="13974163"/>
            <a:chOff x="0" y="0"/>
            <a:chExt cx="9719954" cy="18632217"/>
          </a:xfrm>
        </p:grpSpPr>
        <p:sp>
          <p:nvSpPr>
            <p:cNvPr id="245" name="Google Shape;245;p28"/>
            <p:cNvSpPr/>
            <p:nvPr/>
          </p:nvSpPr>
          <p:spPr>
            <a:xfrm>
              <a:off x="0" y="0"/>
              <a:ext cx="9719954" cy="11160698"/>
            </a:xfrm>
            <a:custGeom>
              <a:rect b="b" l="l" r="r" t="t"/>
              <a:pathLst>
                <a:path extrusionOk="0" h="11160698" w="9719954">
                  <a:moveTo>
                    <a:pt x="0" y="0"/>
                  </a:moveTo>
                  <a:lnTo>
                    <a:pt x="9719954" y="0"/>
                  </a:lnTo>
                  <a:lnTo>
                    <a:pt x="9719954" y="11160698"/>
                  </a:lnTo>
                  <a:lnTo>
                    <a:pt x="0" y="1116069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  <p:sp>
          <p:nvSpPr>
            <p:cNvPr id="246" name="Google Shape;246;p28"/>
            <p:cNvSpPr/>
            <p:nvPr/>
          </p:nvSpPr>
          <p:spPr>
            <a:xfrm>
              <a:off x="0" y="7471519"/>
              <a:ext cx="9719954" cy="11160698"/>
            </a:xfrm>
            <a:custGeom>
              <a:rect b="b" l="l" r="r" t="t"/>
              <a:pathLst>
                <a:path extrusionOk="0" h="11160698" w="9719954">
                  <a:moveTo>
                    <a:pt x="0" y="0"/>
                  </a:moveTo>
                  <a:lnTo>
                    <a:pt x="9719954" y="0"/>
                  </a:lnTo>
                  <a:lnTo>
                    <a:pt x="9719954" y="11160699"/>
                  </a:lnTo>
                  <a:lnTo>
                    <a:pt x="0" y="11160699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</p:sp>
      </p:grpSp>
      <p:sp>
        <p:nvSpPr>
          <p:cNvPr id="247" name="Google Shape;247;p28"/>
          <p:cNvSpPr txBox="1"/>
          <p:nvPr/>
        </p:nvSpPr>
        <p:spPr>
          <a:xfrm>
            <a:off x="395825" y="5808250"/>
            <a:ext cx="12894600" cy="39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Пересмотр рекомендаций, основываясь на принципах доказательной медицины</a:t>
            </a:r>
            <a:endParaRPr sz="30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3238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Char char="•"/>
            </a:pPr>
            <a:r>
              <a:rPr lang="en-US" sz="30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Создание междисциплинарной группы (клиницисты, аналитики, ИТ-специалисты и т. д.) для создания системы автоматической валидации клинических рекомендаций Российской Федерации</a:t>
            </a:r>
            <a:endParaRPr sz="3000">
              <a:solidFill>
                <a:schemeClr val="lt1"/>
              </a:solidFill>
            </a:endParaRPr>
          </a:p>
        </p:txBody>
      </p:sp>
      <p:cxnSp>
        <p:nvCxnSpPr>
          <p:cNvPr id="248" name="Google Shape;248;p28"/>
          <p:cNvCxnSpPr/>
          <p:nvPr/>
        </p:nvCxnSpPr>
        <p:spPr>
          <a:xfrm>
            <a:off x="340325" y="4158800"/>
            <a:ext cx="13005600" cy="0"/>
          </a:xfrm>
          <a:prstGeom prst="straightConnector1">
            <a:avLst/>
          </a:prstGeom>
          <a:noFill/>
          <a:ln cap="flat" cmpd="sng" w="38100">
            <a:solidFill>
              <a:srgbClr val="FD502D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9" name="Google Shape;249;p28"/>
          <p:cNvSpPr txBox="1"/>
          <p:nvPr/>
        </p:nvSpPr>
        <p:spPr>
          <a:xfrm>
            <a:off x="1028700" y="4444713"/>
            <a:ext cx="111330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7000">
                <a:solidFill>
                  <a:srgbClr val="FFFFFF"/>
                </a:solidFill>
              </a:rPr>
              <a:t>Рекомендации</a:t>
            </a:r>
            <a:endParaRPr sz="7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9"/>
          <p:cNvSpPr txBox="1"/>
          <p:nvPr/>
        </p:nvSpPr>
        <p:spPr>
          <a:xfrm>
            <a:off x="887850" y="8162625"/>
            <a:ext cx="5861700" cy="13314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 Почта</a:t>
            </a:r>
            <a:r>
              <a:rPr lang="en-US" sz="3000">
                <a:solidFill>
                  <a:schemeClr val="lt1"/>
                </a:solidFill>
              </a:rPr>
              <a:t>: vanya.litvak@gmail.com</a:t>
            </a:r>
            <a:endParaRPr sz="3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 Телеграм</a:t>
            </a:r>
            <a:r>
              <a:rPr lang="en-US" sz="3000">
                <a:solidFill>
                  <a:schemeClr val="lt1"/>
                </a:solidFill>
              </a:rPr>
              <a:t>: @TryDotAtwo</a:t>
            </a:r>
            <a:endParaRPr sz="3000">
              <a:solidFill>
                <a:schemeClr val="lt1"/>
              </a:solidFill>
            </a:endParaRPr>
          </a:p>
        </p:txBody>
      </p:sp>
      <p:sp>
        <p:nvSpPr>
          <p:cNvPr id="255" name="Google Shape;255;p29"/>
          <p:cNvSpPr/>
          <p:nvPr/>
        </p:nvSpPr>
        <p:spPr>
          <a:xfrm rot="-6438166">
            <a:off x="9986005" y="-3008472"/>
            <a:ext cx="10289732" cy="10289732"/>
          </a:xfrm>
          <a:custGeom>
            <a:rect b="b" l="l" r="r" t="t"/>
            <a:pathLst>
              <a:path extrusionOk="0" h="10287000" w="10287000">
                <a:moveTo>
                  <a:pt x="0" y="0"/>
                </a:moveTo>
                <a:lnTo>
                  <a:pt x="10287000" y="0"/>
                </a:lnTo>
                <a:lnTo>
                  <a:pt x="10287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6" name="Google Shape;256;p29"/>
          <p:cNvSpPr txBox="1"/>
          <p:nvPr/>
        </p:nvSpPr>
        <p:spPr>
          <a:xfrm>
            <a:off x="1028700" y="901925"/>
            <a:ext cx="11133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100"/>
              <a:buNone/>
            </a:pPr>
            <a:r>
              <a:rPr lang="en-US" sz="7200">
                <a:solidFill>
                  <a:srgbClr val="FFFFFF"/>
                </a:solidFill>
              </a:rPr>
              <a:t>Присоединяйтесь! </a:t>
            </a:r>
            <a:endParaRPr sz="7200">
              <a:solidFill>
                <a:srgbClr val="FFFFFF"/>
              </a:solidFill>
            </a:endParaRPr>
          </a:p>
        </p:txBody>
      </p:sp>
      <p:pic>
        <p:nvPicPr>
          <p:cNvPr id="257" name="Google Shape;257;p29" title="qr-code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85250" y="2494275"/>
            <a:ext cx="6414177" cy="6414177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9"/>
          <p:cNvSpPr txBox="1"/>
          <p:nvPr/>
        </p:nvSpPr>
        <p:spPr>
          <a:xfrm>
            <a:off x="887850" y="6275875"/>
            <a:ext cx="10827600" cy="153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3000">
                <a:solidFill>
                  <a:schemeClr val="lt1"/>
                </a:solidFill>
              </a:rPr>
              <a:t>Каждый из нас может защитить здоровье общества. </a:t>
            </a:r>
            <a:r>
              <a:rPr b="1" lang="en-US" sz="3000">
                <a:solidFill>
                  <a:srgbClr val="0097A7"/>
                </a:solidFill>
              </a:rPr>
              <a:t>Остановим псевдонауку в медицине вместе!</a:t>
            </a:r>
            <a:endParaRPr b="1" sz="3000">
              <a:solidFill>
                <a:srgbClr val="0097A7"/>
              </a:solidFill>
            </a:endParaRPr>
          </a:p>
        </p:txBody>
      </p:sp>
      <p:sp>
        <p:nvSpPr>
          <p:cNvPr id="259" name="Google Shape;259;p29"/>
          <p:cNvSpPr txBox="1"/>
          <p:nvPr/>
        </p:nvSpPr>
        <p:spPr>
          <a:xfrm>
            <a:off x="1028700" y="2827325"/>
            <a:ext cx="10545900" cy="3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</a:rPr>
              <a:t>У</a:t>
            </a: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лучшить код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Уточнить “чёрный список”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проверку корректности работы алгоритмов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Распространить информацию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Провести экспертную оценку найденных совпадений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285750" lvl="1" marL="647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US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И много чего ещё!</a:t>
            </a:r>
            <a:endParaRPr sz="2400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0" name="Google Shape;260;p29"/>
          <p:cNvSpPr txBox="1"/>
          <p:nvPr/>
        </p:nvSpPr>
        <p:spPr>
          <a:xfrm>
            <a:off x="1028700" y="2187870"/>
            <a:ext cx="58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F14C2B"/>
                </a:solidFill>
                <a:latin typeface="Montserrat"/>
                <a:ea typeface="Montserrat"/>
                <a:cs typeface="Montserrat"/>
                <a:sym typeface="Montserrat"/>
              </a:rPr>
              <a:t>Что можно сделать?</a:t>
            </a:r>
            <a:endParaRPr b="1" sz="3000">
              <a:solidFill>
                <a:srgbClr val="0097A7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