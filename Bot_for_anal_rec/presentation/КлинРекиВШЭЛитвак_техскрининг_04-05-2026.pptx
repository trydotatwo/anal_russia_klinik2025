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Montserrat-regular.fntdata"/><Relationship Id="rId24" Type="http://schemas.openxmlformats.org/officeDocument/2006/relationships/font" Target="fonts/Montserrat-bold.fntdata"/><Relationship Id="rId25" Type="http://schemas.openxmlformats.org/officeDocument/2006/relationships/font" Target="fonts/Montserrat-italic.fntdata"/><Relationship Id="rId26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d32ea2e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3d32ea2e4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d32ea2e4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3d32ea2e43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d32ea2e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3d32ea2e4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d32ea2e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3d32ea2e4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d32ea2e4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3d32ea2e43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d32ea2e4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3d32ea2e43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32ea2e4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3d32ea2e43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d32ea2e4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3d32ea2e43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d32ea2e4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3d32ea2e43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d32ea2e4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3d32ea2e43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d32ea2e4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3d32ea2e43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d32ea2e4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3d32ea2e43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d32ea2e4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3d32ea2e43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d32ea2e4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3d32ea2e43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d32ea2e4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3d32ea2e43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d32ea2e43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3d32ea2e43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d32ea2e4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3d32ea2e43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9353550" y="0"/>
            <a:ext cx="10287000" cy="10287000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ФАКТ-ЧЕКИНГ КЛИНИЧЕСКИХ РЕКОМЕНДАЦИЙ: КАК ИСКАТЬ СОМНИТЕЛЬНЫЕ ПРЕПАРАТЫ В 560 PDF И НЕ УТОНУТЬ В ЛОЖНЫХ СОВПАДЕНИЯХ</a:t>
            </a:r>
          </a:p>
        </p:txBody>
      </p:sp>
      <p:grpSp>
        <p:nvGrpSpPr>
          <p:cNvPr id="55" name="Google Shape;55;p13"/>
          <p:cNvGrpSpPr/>
          <p:nvPr/>
        </p:nvGrpSpPr>
        <p:grpSpPr>
          <a:xfrm>
            <a:off x="1028700" y="633425"/>
            <a:ext cx="15221700" cy="4902575"/>
            <a:chOff x="0" y="-527033"/>
            <a:chExt cx="20295600" cy="6536767"/>
          </a:xfrm>
        </p:grpSpPr>
        <p:sp>
          <p:nvSpPr>
            <p:cNvPr id="56" name="Google Shape;56;p13"/>
            <p:cNvSpPr txBox="1"/>
            <p:nvPr/>
          </p:nvSpPr>
          <p:spPr>
            <a:xfrm>
              <a:off x="0" y="-527033"/>
              <a:ext cx="20295600" cy="47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FFFFFF"/>
                  </a:solidFill>
                </a:rPr>
                <a:t>Автор:</a:t>
              </a:r>
              <a:endParaRPr sz="4000">
                <a:solidFill>
                  <a:srgbClr val="FFFFFF"/>
                </a:solidFill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0" y="3670033"/>
              <a:ext cx="126693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1" lang="en-US" sz="3000">
                  <a:solidFill>
                    <a:srgbClr val="0097A7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i="0" lang="en-US" sz="3000" u="none" cap="none" strike="noStrike">
                  <a:solidFill>
                    <a:srgbClr val="0097A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Литвак Иван</a:t>
              </a:r>
              <a:endParaRPr sz="30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8" name="Google Shape;58;p13" title="qr-code (1).png"/>
          <p:cNvPicPr preferRelativeResize="0"/>
          <p:nvPr/>
        </p:nvPicPr>
        <p:blipFill rotWithShape="1">
          <a:blip r:embed="rId4">
            <a:alphaModFix/>
          </a:blip>
          <a:srcRect b="0" l="0" r="2200" t="0"/>
          <a:stretch/>
        </p:blipFill>
        <p:spPr>
          <a:xfrm>
            <a:off x="800100" y="5045050"/>
            <a:ext cx="4764585" cy="487152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9986875" y="5045050"/>
            <a:ext cx="3414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vanya.litvak@gmail.com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13"/>
          <p:cNvCxnSpPr>
            <a:stCxn id="59" idx="1"/>
            <a:endCxn id="58" idx="3"/>
          </p:cNvCxnSpPr>
          <p:nvPr/>
        </p:nvCxnSpPr>
        <p:spPr>
          <a:xfrm flipH="1">
            <a:off x="5564575" y="5383600"/>
            <a:ext cx="4422300" cy="2097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4875" y="6992524"/>
            <a:ext cx="1327625" cy="12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 rot="-4666841">
            <a:off x="10379889" y="-848680"/>
            <a:ext cx="12393727" cy="12212347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Идея доклада</a:t>
            </a:r>
          </a:p>
        </p:txBody>
      </p:sp>
      <p:sp>
        <p:nvSpPr>
          <p:cNvPr id="67" name="Google Shape;67;p14"/>
          <p:cNvSpPr txBox="1"/>
          <p:nvPr/>
        </p:nvSpPr>
        <p:spPr>
          <a:xfrm>
            <a:off x="1028700" y="1502167"/>
            <a:ext cx="141639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0000">
                <a:solidFill>
                  <a:srgbClr val="FFFFFF"/>
                </a:solidFill>
              </a:rPr>
              <a:t>Факт-чекинг клинических рекомендаций — это не только медицинская проблема, а инженерная задача поиска, фильтрации и проверки контекста.</a:t>
            </a:r>
            <a:endParaRPr sz="10000">
              <a:solidFill>
                <a:srgbClr val="FFFFFF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028700" y="3244250"/>
            <a:ext cx="12241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-US" sz="3000">
                <a:solidFill>
                  <a:schemeClr val="lt1"/>
                </a:solidFill>
              </a:rPr>
            </a:br>
            <a:r>
              <a:rPr lang="en-US" sz="3000">
                <a:solidFill>
                  <a:schemeClr val="lt1"/>
                </a:solidFill>
              </a:rPr>
              <a:t>ЦА доклада: NLP/LLM-специалисты, ML-инженеры, аналитики медицинских данных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69" name="Google Shape;69;p14" title="qr-code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80675" y="4421750"/>
            <a:ext cx="5288125" cy="528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" y="5191175"/>
            <a:ext cx="1327625" cy="13091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765550" y="5400325"/>
            <a:ext cx="8208300" cy="26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i="1" lang="en-US" sz="2600">
                <a:solidFill>
                  <a:srgbClr val="FFFFFF"/>
                </a:solidFill>
              </a:rPr>
            </a:br>
            <a:r>
              <a:rPr i="1" lang="en-US" sz="2600">
                <a:solidFill>
                  <a:srgbClr val="FFFFFF"/>
                </a:solidFill>
              </a:rPr>
              <a:t>Формат: проблема → пайплайн → узкие места → ручные фильтры → LLM-оценка → метрики качества</a:t>
            </a:r>
            <a:endParaRPr i="1" sz="2600">
              <a:solidFill>
                <a:srgbClr val="FFFFFF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80900" y="8138725"/>
            <a:ext cx="9330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— Выдержка из письма Минздрава РФ (21.01.2025, № 17-1/3003770-2772)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4801500" y="8097225"/>
            <a:ext cx="92385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lt1"/>
                </a:solidFill>
              </a:rPr>
              <a:t>Пример входной сложности</a:t>
            </a:r>
            <a:endParaRPr i="1" sz="2800">
              <a:solidFill>
                <a:schemeClr val="lt1"/>
              </a:solidFill>
            </a:endParaRPr>
          </a:p>
          <a:p>
            <a:r>
              <a:rPr b="1" i="1" lang="en-US" sz="2800">
                <a:solidFill>
                  <a:schemeClr val="lt1"/>
                </a:solidFill>
              </a:rPr>
              <a:t>Клиническая рекомендация: 50+ страниц, 200+ источников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028700" y="409575"/>
            <a:ext cx="154176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2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ТЕХНИЧЕСКАЯ ЗАДАЧА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61000" y="1725375"/>
            <a:ext cx="154176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Нужно найти сомнительные препараты и маркеры псевдонаучных методов в корпусе клинических рекомендаций Минздрава РФ.</a:t>
            </a:r>
            <a:endParaRPr>
              <a:solidFill>
                <a:schemeClr val="lt1"/>
              </a:solidFill>
            </a:endParaRPr>
          </a:p>
          <a:p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Нужно отличить реальное упоминание от шума, омонимии, дублей, частей слов и контекста отрицания.</a:t>
            </a:r>
          </a:p>
        </p:txBody>
      </p:sp>
      <p:sp>
        <p:nvSpPr>
          <p:cNvPr id="80" name="Google Shape;80;p15"/>
          <p:cNvSpPr txBox="1"/>
          <p:nvPr/>
        </p:nvSpPr>
        <p:spPr>
          <a:xfrm>
            <a:off x="261000" y="4653675"/>
            <a:ext cx="1541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Наивный поиск даёт много совпадений, но мало доверия к результату</a:t>
            </a:r>
            <a:endParaRPr b="1" sz="6000">
              <a:solidFill>
                <a:schemeClr val="lt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261000" y="5965875"/>
            <a:ext cx="1041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lt1"/>
                </a:solidFill>
              </a:rPr>
              <a:t>Пример: короткие словоформы и фрагменты названий матчатся внутри нерелевантных слов</a:t>
            </a:r>
            <a:endParaRPr i="1" sz="2800">
              <a:solidFill>
                <a:schemeClr val="lt1"/>
              </a:solidFill>
            </a:endParaRPr>
          </a:p>
        </p:txBody>
      </p:sp>
      <p:pic>
        <p:nvPicPr>
          <p:cNvPr id="82" name="Google Shape;82;p15" title="qr-code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9275" y="5761875"/>
            <a:ext cx="2219924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>
            <a:stCxn id="81" idx="3"/>
            <a:endCxn id="82" idx="1"/>
          </p:cNvCxnSpPr>
          <p:nvPr/>
        </p:nvCxnSpPr>
        <p:spPr>
          <a:xfrm>
            <a:off x="10672200" y="6596925"/>
            <a:ext cx="857100" cy="274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4" name="Google Shape;84;p15" title="qr-code (5).png"/>
          <p:cNvPicPr preferRelativeResize="0"/>
          <p:nvPr/>
        </p:nvPicPr>
        <p:blipFill rotWithShape="1">
          <a:blip r:embed="rId4">
            <a:alphaModFix/>
          </a:blip>
          <a:srcRect b="0" l="0" r="-5664" t="0"/>
          <a:stretch/>
        </p:blipFill>
        <p:spPr>
          <a:xfrm>
            <a:off x="1028700" y="7509075"/>
            <a:ext cx="2345549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5"/>
          <p:cNvCxnSpPr>
            <a:stCxn id="77" idx="1"/>
            <a:endCxn id="84" idx="3"/>
          </p:cNvCxnSpPr>
          <p:nvPr/>
        </p:nvCxnSpPr>
        <p:spPr>
          <a:xfrm rot="10800000">
            <a:off x="3374100" y="8618925"/>
            <a:ext cx="1427400" cy="17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/>
          <p:nvPr/>
        </p:nvSpPr>
        <p:spPr>
          <a:xfrm>
            <a:off x="14412537" y="2014560"/>
            <a:ext cx="7331825" cy="10287000"/>
          </a:xfrm>
          <a:custGeom>
            <a:rect b="b" l="l" r="r" t="t"/>
            <a:pathLst>
              <a:path extrusionOk="0" h="10287000" w="7331825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1028700" y="426675"/>
            <a:ext cx="1541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РИСК ДАННЫХ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4412537" y="2014560"/>
            <a:ext cx="7331825" cy="10287000"/>
          </a:xfrm>
          <a:custGeom>
            <a:rect b="b" l="l" r="r" t="t"/>
            <a:pathLst>
              <a:path extrusionOk="0" h="10287000" w="7331825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Без фильтрации пайплайн превращает сырые совпадения в псевдо-выводы.</a:t>
            </a:r>
          </a:p>
        </p:txBody>
      </p:sp>
      <p:sp>
        <p:nvSpPr>
          <p:cNvPr id="93" name="Google Shape;93;p16"/>
          <p:cNvSpPr txBox="1"/>
          <p:nvPr/>
        </p:nvSpPr>
        <p:spPr>
          <a:xfrm>
            <a:off x="0" y="1801575"/>
            <a:ext cx="13684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Основной риск: высокий recall без контроля precision.</a:t>
            </a:r>
            <a:endParaRPr sz="4000"/>
          </a:p>
          <a:p>
            <a:r>
              <a:rPr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Ошибки источника, парсинга PDF, словоформ и LLM-ответов складываются в один отчёт.</a:t>
            </a:r>
          </a:p>
        </p:txBody>
      </p:sp>
      <p:sp>
        <p:nvSpPr>
          <p:cNvPr id="94" name="Google Shape;94;p16"/>
          <p:cNvSpPr txBox="1"/>
          <p:nvPr/>
        </p:nvSpPr>
        <p:spPr>
          <a:xfrm>
            <a:off x="1054800" y="6425775"/>
            <a:ext cx="11574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lt1"/>
                </a:solidFill>
              </a:rPr>
              <a:t>Критичные классы ошибок:</a:t>
            </a:r>
            <a:endParaRPr i="1" sz="3000">
              <a:solidFill>
                <a:schemeClr val="lt1"/>
              </a:solidFill>
            </a:endParaRPr>
          </a:p>
          <a:p>
            <a:r>
              <a:rPr i="1" lang="en-US" sz="3000">
                <a:solidFill>
                  <a:schemeClr val="lt1"/>
                </a:solidFill>
              </a:rPr>
              <a:t>ложные совпадения внутри слов</a:t>
            </a:r>
          </a:p>
          <a:p>
            <a:r>
              <a:rPr i="1" lang="en-US" sz="3000">
                <a:solidFill>
                  <a:schemeClr val="lt1"/>
                </a:solidFill>
              </a:rPr>
              <a:t>дубли после PDF-парсинга</a:t>
            </a:r>
          </a:p>
          <a:p>
            <a:r>
              <a:rPr i="1" lang="en-US" sz="3000">
                <a:solidFill>
                  <a:schemeClr val="lt1"/>
                </a:solidFill>
              </a:rPr>
              <a:t>контекст «не рекомендовано»</a:t>
            </a:r>
          </a:p>
          <a:p>
            <a:r>
              <a:rPr i="1" lang="en-US" sz="3000">
                <a:solidFill>
                  <a:schemeClr val="lt1"/>
                </a:solidFill>
              </a:rPr>
              <a:t>модель вернула невалидный формат</a:t>
            </a:r>
          </a:p>
        </p:txBody>
      </p:sp>
      <p:sp>
        <p:nvSpPr>
          <p:cNvPr id="95" name="Google Shape;95;p16"/>
          <p:cNvSpPr txBox="1"/>
          <p:nvPr/>
        </p:nvSpPr>
        <p:spPr>
          <a:xfrm>
            <a:off x="583950" y="3881775"/>
            <a:ext cx="14249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Это: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Char char="●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Угрожает здоровью пациентов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Char char="●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Подрывает доверие к медицине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7"/>
          <p:cNvGrpSpPr/>
          <p:nvPr/>
        </p:nvGrpSpPr>
        <p:grpSpPr>
          <a:xfrm>
            <a:off x="-3409950" y="-1571625"/>
            <a:ext cx="10382250" cy="15830550"/>
            <a:chOff x="0" y="0"/>
            <a:chExt cx="13843000" cy="21107400"/>
          </a:xfrm>
        </p:grpSpPr>
        <p:sp>
          <p:nvSpPr>
            <p:cNvPr id="101" name="Google Shape;101;p17"/>
            <p:cNvSpPr/>
            <p:nvPr/>
          </p:nvSpPr>
          <p:spPr>
            <a:xfrm>
              <a:off x="2489200" y="44577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Цели технического разбора</a:t>
              </a:r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0" y="105156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Показать архитектуру пайплайна</a:t>
              </a: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3251200" y="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Разобрать узкие места поиска и фильтрации</a:t>
              </a:r>
            </a:p>
          </p:txBody>
        </p:sp>
      </p:grpSp>
      <p:grpSp>
        <p:nvGrpSpPr>
          <p:cNvPr id="104" name="Google Shape;104;p17"/>
          <p:cNvGrpSpPr/>
          <p:nvPr/>
        </p:nvGrpSpPr>
        <p:grpSpPr>
          <a:xfrm>
            <a:off x="7719710" y="1640000"/>
            <a:ext cx="9191250" cy="4414462"/>
            <a:chOff x="0" y="-1595333"/>
            <a:chExt cx="12255000" cy="5885950"/>
          </a:xfrm>
        </p:grpSpPr>
        <p:sp>
          <p:nvSpPr>
            <p:cNvPr id="105" name="Google Shape;105;p17"/>
            <p:cNvSpPr txBox="1"/>
            <p:nvPr/>
          </p:nvSpPr>
          <p:spPr>
            <a:xfrm>
              <a:off x="0" y="-1595333"/>
              <a:ext cx="122550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0">
                  <a:solidFill>
                    <a:srgbClr val="FFFFFF"/>
                  </a:solidFill>
                </a:rPr>
                <a:t>Показать оценку качества LLM на размеченном датасете</a:t>
              </a:r>
              <a:endParaRPr/>
            </a:p>
          </p:txBody>
        </p:sp>
        <p:sp>
          <p:nvSpPr>
            <p:cNvPr id="106" name="Google Shape;106;p17"/>
            <p:cNvSpPr txBox="1"/>
            <p:nvPr/>
          </p:nvSpPr>
          <p:spPr>
            <a:xfrm>
              <a:off x="0" y="756617"/>
              <a:ext cx="12255000" cy="3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23863" lvl="1" marL="91440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3075"/>
                <a:buChar char="•"/>
              </a:pPr>
              <a:r>
                <a:rPr lang="en-US" sz="3075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Защита пациентов</a:t>
              </a:r>
              <a:endParaRPr sz="3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23863" lvl="1" marL="914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75"/>
                <a:buChar char="•"/>
              </a:pPr>
              <a:r>
                <a:rPr lang="en-US" sz="3075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Повышение доверия к медицине</a:t>
              </a:r>
              <a:endParaRPr sz="3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23863" lvl="1" marL="914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75"/>
                <a:buChar char="•"/>
              </a:pPr>
              <a:r>
                <a:rPr lang="en-US" sz="3075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Создание открытой и свободной системы верификации клинических рекомендаций</a:t>
              </a:r>
              <a:endParaRPr>
                <a:solidFill>
                  <a:schemeClr val="lt1"/>
                </a:solidFill>
              </a:endParaRPr>
            </a:p>
          </p:txBody>
        </p:sp>
      </p:grpSp>
      <p:pic>
        <p:nvPicPr>
          <p:cNvPr id="107" name="Google Shape;107;p17" title="free-icon-database-98508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800" y="6919875"/>
            <a:ext cx="2259651" cy="225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free-icon-artificial-intelligence-4632842.png"/>
          <p:cNvPicPr preferRelativeResize="0"/>
          <p:nvPr/>
        </p:nvPicPr>
        <p:blipFill rotWithShape="1">
          <a:blip r:embed="rId5">
            <a:alphaModFix/>
          </a:blip>
          <a:srcRect b="-5960" l="-8986" r="-10990" t="-8443"/>
          <a:stretch/>
        </p:blipFill>
        <p:spPr>
          <a:xfrm>
            <a:off x="10328213" y="6728975"/>
            <a:ext cx="2711163" cy="2585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7"/>
          <p:cNvCxnSpPr>
            <a:stCxn id="107" idx="3"/>
            <a:endCxn id="108" idx="1"/>
          </p:cNvCxnSpPr>
          <p:nvPr/>
        </p:nvCxnSpPr>
        <p:spPr>
          <a:xfrm flipH="1" rot="10800000">
            <a:off x="8826451" y="8021500"/>
            <a:ext cx="1501800" cy="28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0" name="Google Shape;110;p17" title="free-icon-pdf-337946.png"/>
          <p:cNvPicPr preferRelativeResize="0"/>
          <p:nvPr/>
        </p:nvPicPr>
        <p:blipFill rotWithShape="1">
          <a:blip r:embed="rId6">
            <a:alphaModFix/>
          </a:blip>
          <a:srcRect b="0" l="-4877" r="0" t="0"/>
          <a:stretch/>
        </p:blipFill>
        <p:spPr>
          <a:xfrm>
            <a:off x="14541150" y="6891763"/>
            <a:ext cx="2369800" cy="2259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7"/>
          <p:cNvCxnSpPr>
            <a:stCxn id="108" idx="3"/>
            <a:endCxn id="110" idx="1"/>
          </p:cNvCxnSpPr>
          <p:nvPr/>
        </p:nvCxnSpPr>
        <p:spPr>
          <a:xfrm>
            <a:off x="13039375" y="8021575"/>
            <a:ext cx="1501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5957875" y="5505175"/>
            <a:ext cx="5268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arenR" startAt="2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 и словари: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560 PDF клинических рекомендаций</a:t>
            </a:r>
          </a:p>
          <a:p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чёрный список препаратов</a:t>
            </a:r>
          </a:p>
          <a:p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слова-маркеры: гомеопатия, биорезонанс, аффинное, сверхвысокие разведения</a:t>
            </a:r>
          </a:p>
        </p:txBody>
      </p:sp>
      <p:sp>
        <p:nvSpPr>
          <p:cNvPr id="117" name="Google Shape;117;p18"/>
          <p:cNvSpPr txBox="1"/>
          <p:nvPr/>
        </p:nvSpPr>
        <p:spPr>
          <a:xfrm>
            <a:off x="765373" y="1938970"/>
            <a:ext cx="14344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FFFFFF"/>
                </a:solidFill>
              </a:rPr>
              <a:t>Этап 1. Сбор данных</a:t>
            </a:r>
            <a:endParaRPr sz="7000"/>
          </a:p>
        </p:txBody>
      </p:sp>
      <p:grpSp>
        <p:nvGrpSpPr>
          <p:cNvPr id="118" name="Google Shape;118;p18"/>
          <p:cNvGrpSpPr/>
          <p:nvPr/>
        </p:nvGrpSpPr>
        <p:grpSpPr>
          <a:xfrm>
            <a:off x="765371" y="-10169515"/>
            <a:ext cx="16757258" cy="11696055"/>
            <a:chOff x="0" y="0"/>
            <a:chExt cx="22343010" cy="15594740"/>
          </a:xfrm>
        </p:grpSpPr>
        <p:sp>
          <p:nvSpPr>
            <p:cNvPr id="119" name="Google Shape;119;p18"/>
            <p:cNvSpPr/>
            <p:nvPr/>
          </p:nvSpPr>
          <p:spPr>
            <a:xfrm>
              <a:off x="0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PDF → текст → нормализованный корпус:</a:t>
              </a:r>
            </a:p>
            <a:p>
              <a:r>
                <a:t>извлечение fitz</a:t>
              </a:r>
            </a:p>
            <a:p>
              <a:r>
                <a:t>склейка переносов</a:t>
              </a:r>
            </a:p>
            <a:p>
              <a:r>
                <a:t>удаление артефактов</a:t>
              </a:r>
            </a:p>
            <a:p>
              <a:r>
                <a:t>сохранение трассировки источника</a:t>
              </a:r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11171505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121" name="Google Shape;121;p18"/>
          <p:cNvPicPr preferRelativeResize="0"/>
          <p:nvPr/>
        </p:nvPicPr>
        <p:blipFill rotWithShape="1">
          <a:blip r:embed="rId4">
            <a:alphaModFix/>
          </a:blip>
          <a:srcRect b="0" l="0" r="56997" t="39701"/>
          <a:stretch/>
        </p:blipFill>
        <p:spPr>
          <a:xfrm>
            <a:off x="765375" y="3429000"/>
            <a:ext cx="5016417" cy="626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5957875" y="3429000"/>
            <a:ext cx="9275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560 PDF-файлов рекомендаций https://cr.minzdrav.gov.ru/clin-rec: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lphaL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Извлечение текста (fitz)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lphaL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Нормализация: исправление обрывов строк, удаление артефактов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" name="Google Shape;123;p18"/>
          <p:cNvCxnSpPr/>
          <p:nvPr/>
        </p:nvCxnSpPr>
        <p:spPr>
          <a:xfrm>
            <a:off x="9227900" y="5067300"/>
            <a:ext cx="1143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4" name="Google Shape;124;p18"/>
          <p:cNvPicPr preferRelativeResize="0"/>
          <p:nvPr/>
        </p:nvPicPr>
        <p:blipFill rotWithShape="1">
          <a:blip r:embed="rId5">
            <a:alphaModFix/>
          </a:blip>
          <a:srcRect b="44234" l="0" r="20823" t="0"/>
          <a:stretch/>
        </p:blipFill>
        <p:spPr>
          <a:xfrm>
            <a:off x="11212200" y="4877525"/>
            <a:ext cx="6701927" cy="47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1048275" y="66910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PDF-текст</a:t>
            </a:r>
            <a:endParaRPr sz="2400"/>
          </a:p>
        </p:txBody>
      </p:sp>
      <p:sp>
        <p:nvSpPr>
          <p:cNvPr id="130" name="Google Shape;130;p19"/>
          <p:cNvSpPr/>
          <p:nvPr/>
        </p:nvSpPr>
        <p:spPr>
          <a:xfrm>
            <a:off x="6364648" y="66910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Ахо-Корасик</a:t>
            </a:r>
            <a:endParaRPr sz="2400"/>
          </a:p>
        </p:txBody>
      </p:sp>
      <p:sp>
        <p:nvSpPr>
          <p:cNvPr id="131" name="Google Shape;131;p19"/>
          <p:cNvSpPr/>
          <p:nvPr/>
        </p:nvSpPr>
        <p:spPr>
          <a:xfrm>
            <a:off x="11681020" y="66910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совпадение + контекст</a:t>
            </a:r>
            <a:endParaRPr sz="2400"/>
          </a:p>
        </p:txBody>
      </p:sp>
      <p:sp>
        <p:nvSpPr>
          <p:cNvPr id="132" name="Google Shape;132;p19"/>
          <p:cNvSpPr txBox="1"/>
          <p:nvPr/>
        </p:nvSpPr>
        <p:spPr>
          <a:xfrm>
            <a:off x="765375" y="3704500"/>
            <a:ext cx="15417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AutoNum type="arabicParenR" startAt="3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Почему Ахо-Корасик: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один проход по тексту вместо N поисков</a:t>
            </a:r>
          </a:p>
          <a:p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сложность O(n + m + z)</a:t>
            </a:r>
          </a:p>
          <a:p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масштабируется на десятки тысяч словоформ</a:t>
            </a:r>
          </a:p>
          <a:p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сохраняет все позиции для дедупликации</a:t>
            </a:r>
          </a:p>
        </p:txBody>
      </p:sp>
      <p:sp>
        <p:nvSpPr>
          <p:cNvPr id="133" name="Google Shape;133;p19"/>
          <p:cNvSpPr txBox="1"/>
          <p:nvPr/>
        </p:nvSpPr>
        <p:spPr>
          <a:xfrm>
            <a:off x="1009600" y="2270175"/>
            <a:ext cx="156975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FFFFFF"/>
                </a:solidFill>
              </a:rPr>
              <a:t>Этап 2. Быстрый поиск совпадений</a:t>
            </a:r>
            <a:endParaRPr sz="7000">
              <a:solidFill>
                <a:srgbClr val="FFFFFF"/>
              </a:solidFill>
            </a:endParaRPr>
          </a:p>
        </p:txBody>
      </p:sp>
      <p:grpSp>
        <p:nvGrpSpPr>
          <p:cNvPr id="134" name="Google Shape;134;p19"/>
          <p:cNvGrpSpPr/>
          <p:nvPr/>
        </p:nvGrpSpPr>
        <p:grpSpPr>
          <a:xfrm>
            <a:off x="765371" y="-10169515"/>
            <a:ext cx="16757258" cy="11696055"/>
            <a:chOff x="0" y="0"/>
            <a:chExt cx="22343010" cy="15594740"/>
          </a:xfrm>
        </p:grpSpPr>
        <p:sp>
          <p:nvSpPr>
            <p:cNvPr id="135" name="Google Shape;135;p19"/>
            <p:cNvSpPr/>
            <p:nvPr/>
          </p:nvSpPr>
          <p:spPr>
            <a:xfrm>
              <a:off x="0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19"/>
            <p:cNvSpPr/>
            <p:nvPr/>
          </p:nvSpPr>
          <p:spPr>
            <a:xfrm>
              <a:off x="11171505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cxnSp>
        <p:nvCxnSpPr>
          <p:cNvPr id="137" name="Google Shape;137;p19"/>
          <p:cNvCxnSpPr>
            <a:stCxn id="129" idx="0"/>
            <a:endCxn id="130" idx="2"/>
          </p:cNvCxnSpPr>
          <p:nvPr/>
        </p:nvCxnSpPr>
        <p:spPr>
          <a:xfrm>
            <a:off x="4750575" y="79843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>
            <a:stCxn id="130" idx="0"/>
            <a:endCxn id="131" idx="2"/>
          </p:cNvCxnSpPr>
          <p:nvPr/>
        </p:nvCxnSpPr>
        <p:spPr>
          <a:xfrm>
            <a:off x="10066948" y="79843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/>
        </p:nvSpPr>
        <p:spPr>
          <a:xfrm>
            <a:off x="1009600" y="2270175"/>
            <a:ext cx="156975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FFFFFF"/>
                </a:solidFill>
              </a:rPr>
              <a:t>Этап 3. LLM-анализ контекста</a:t>
            </a:r>
            <a:endParaRPr sz="7000">
              <a:solidFill>
                <a:srgbClr val="FFFFFF"/>
              </a:solidFill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765371" y="-10169515"/>
            <a:ext cx="16757258" cy="11696055"/>
            <a:chOff x="0" y="0"/>
            <a:chExt cx="22343010" cy="15594740"/>
          </a:xfrm>
        </p:grpSpPr>
        <p:sp>
          <p:nvSpPr>
            <p:cNvPr id="145" name="Google Shape;145;p20"/>
            <p:cNvSpPr/>
            <p:nvPr/>
          </p:nvSpPr>
          <p:spPr>
            <a:xfrm>
              <a:off x="0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инструкция</a:t>
              </a:r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11171505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LLM</a:t>
              </a:r>
            </a:p>
          </p:txBody>
        </p:sp>
      </p:grpSp>
      <p:sp>
        <p:nvSpPr>
          <p:cNvPr id="147" name="Google Shape;147;p20"/>
          <p:cNvSpPr/>
          <p:nvPr/>
        </p:nvSpPr>
        <p:spPr>
          <a:xfrm>
            <a:off x="1048275" y="66911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УДД</a:t>
            </a:r>
            <a:endParaRPr sz="2400"/>
          </a:p>
          <a:p>
            <a:r>
              <a:rPr lang="en-US" sz="2400"/>
              <a:t>УУР</a:t>
            </a:r>
          </a:p>
          <a:p>
            <a:r>
              <a:rPr lang="en-US" sz="2400"/>
              <a:t>тип</a:t>
            </a:r>
          </a:p>
          <a:p>
            <a:r>
              <a:rPr lang="en-US" sz="2400"/>
              <a:t>валидность</a:t>
            </a:r>
          </a:p>
        </p:txBody>
      </p:sp>
      <p:sp>
        <p:nvSpPr>
          <p:cNvPr id="148" name="Google Shape;148;p20"/>
          <p:cNvSpPr/>
          <p:nvPr/>
        </p:nvSpPr>
        <p:spPr>
          <a:xfrm>
            <a:off x="6364446" y="66911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LLM получает название, контекст и строгий формат ответа.</a:t>
            </a:r>
            <a:endParaRPr sz="2400"/>
          </a:p>
          <a:p>
            <a:r>
              <a:rPr lang="en-US" sz="2400"/>
              <a:t>Задача модели: понять, является ли упоминание клинической рекомендацией, описанием источника, отрицанием, примером или шумом.</a:t>
            </a:r>
          </a:p>
        </p:txBody>
      </p:sp>
      <p:sp>
        <p:nvSpPr>
          <p:cNvPr id="149" name="Google Shape;149;p20"/>
          <p:cNvSpPr/>
          <p:nvPr/>
        </p:nvSpPr>
        <p:spPr>
          <a:xfrm>
            <a:off x="11680617" y="66911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УДД: &lt;значение&gt;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УУР: &lt;значение&gt;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Тип: &lt;тип&gt;</a:t>
            </a:r>
            <a:endParaRPr sz="2400"/>
          </a:p>
        </p:txBody>
      </p:sp>
      <p:cxnSp>
        <p:nvCxnSpPr>
          <p:cNvPr id="150" name="Google Shape;150;p20"/>
          <p:cNvCxnSpPr>
            <a:stCxn id="147" idx="0"/>
            <a:endCxn id="148" idx="2"/>
          </p:cNvCxnSpPr>
          <p:nvPr/>
        </p:nvCxnSpPr>
        <p:spPr>
          <a:xfrm>
            <a:off x="4750575" y="79844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0"/>
          <p:cNvCxnSpPr>
            <a:stCxn id="148" idx="0"/>
            <a:endCxn id="149" idx="2"/>
          </p:cNvCxnSpPr>
          <p:nvPr/>
        </p:nvCxnSpPr>
        <p:spPr>
          <a:xfrm>
            <a:off x="10066746" y="79844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0"/>
          <p:cNvSpPr txBox="1"/>
          <p:nvPr/>
        </p:nvSpPr>
        <p:spPr>
          <a:xfrm>
            <a:off x="765375" y="3704500"/>
            <a:ext cx="167574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AutoNum type="arabicParenR" startAt="4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Используем LLM для определения контекста: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Передаём название препарата и инструкцию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Передаём контекст упоминания препарата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Просим сформировать ответ в формате  </a:t>
            </a:r>
            <a:r>
              <a:rPr i="1"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УДД: &lt;значение&gt; УУР: &lt;значение&gt; Тип: &lt;тип&gt;</a:t>
            </a:r>
            <a:endParaRPr i="1"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1328920" y="717819"/>
            <a:ext cx="933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FFFFFF"/>
                </a:solidFill>
              </a:rPr>
              <a:t>ПАЙПЛАЙН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1328925" y="2659700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PDF клинических рекомендаций</a:t>
            </a:r>
            <a:endParaRPr sz="1600"/>
          </a:p>
        </p:txBody>
      </p:sp>
      <p:pic>
        <p:nvPicPr>
          <p:cNvPr id="159" name="Google Shape;159;p21" title="free-icon-database-9850812.png"/>
          <p:cNvPicPr preferRelativeResize="0"/>
          <p:nvPr/>
        </p:nvPicPr>
        <p:blipFill rotWithShape="1">
          <a:blip r:embed="rId3">
            <a:alphaModFix/>
          </a:blip>
          <a:srcRect b="0" l="14268" r="13960" t="0"/>
          <a:stretch/>
        </p:blipFill>
        <p:spPr>
          <a:xfrm>
            <a:off x="3136425" y="4241625"/>
            <a:ext cx="1435575" cy="20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/>
          <p:nvPr/>
        </p:nvSpPr>
        <p:spPr>
          <a:xfrm>
            <a:off x="4177400" y="2659700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словари: препараты + маркеры</a:t>
            </a:r>
            <a:endParaRPr sz="1600"/>
          </a:p>
        </p:txBody>
      </p:sp>
      <p:cxnSp>
        <p:nvCxnSpPr>
          <p:cNvPr id="161" name="Google Shape;161;p21"/>
          <p:cNvCxnSpPr>
            <a:stCxn id="158" idx="0"/>
            <a:endCxn id="159" idx="0"/>
          </p:cNvCxnSpPr>
          <p:nvPr/>
        </p:nvCxnSpPr>
        <p:spPr>
          <a:xfrm>
            <a:off x="3568425" y="3352400"/>
            <a:ext cx="285900" cy="889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1"/>
          <p:cNvCxnSpPr>
            <a:stCxn id="160" idx="2"/>
            <a:endCxn id="159" idx="0"/>
          </p:cNvCxnSpPr>
          <p:nvPr/>
        </p:nvCxnSpPr>
        <p:spPr>
          <a:xfrm flipH="1">
            <a:off x="3854300" y="3352400"/>
            <a:ext cx="323100" cy="889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1" title="free-icon-artificial-intelligence-46328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325" y="4241625"/>
            <a:ext cx="2000325" cy="20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/>
          <p:nvPr/>
        </p:nvSpPr>
        <p:spPr>
          <a:xfrm>
            <a:off x="8909813" y="2583100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/>
            </a:br>
            <a:r>
              <a:rPr lang="en-US" sz="1600"/>
              <a:t>Ахо-Корасик</a:t>
            </a:r>
            <a:endParaRPr sz="1600"/>
          </a:p>
          <a:p>
            <a:r>
              <a:rPr lang="en-US" sz="1600"/>
              <a:t>контекст ±N слов</a:t>
            </a:r>
          </a:p>
        </p:txBody>
      </p:sp>
      <p:sp>
        <p:nvSpPr>
          <p:cNvPr id="165" name="Google Shape;165;p21"/>
          <p:cNvSpPr/>
          <p:nvPr/>
        </p:nvSpPr>
        <p:spPr>
          <a:xfrm>
            <a:off x="8909825" y="4549088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ручные фильтры</a:t>
            </a:r>
            <a:endParaRPr sz="1600"/>
          </a:p>
          <a:p>
            <a:r>
              <a:rPr lang="en-US" sz="1600"/>
              <a:t>дедупликация</a:t>
            </a:r>
          </a:p>
        </p:txBody>
      </p:sp>
      <p:cxnSp>
        <p:nvCxnSpPr>
          <p:cNvPr id="166" name="Google Shape;166;p21"/>
          <p:cNvCxnSpPr>
            <a:stCxn id="164" idx="1"/>
            <a:endCxn id="165" idx="3"/>
          </p:cNvCxnSpPr>
          <p:nvPr/>
        </p:nvCxnSpPr>
        <p:spPr>
          <a:xfrm>
            <a:off x="10029563" y="3968500"/>
            <a:ext cx="0" cy="580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1"/>
          <p:cNvCxnSpPr>
            <a:stCxn id="163" idx="3"/>
            <a:endCxn id="164" idx="2"/>
          </p:cNvCxnSpPr>
          <p:nvPr/>
        </p:nvCxnSpPr>
        <p:spPr>
          <a:xfrm flipH="1" rot="10800000">
            <a:off x="7690650" y="3275887"/>
            <a:ext cx="1219200" cy="1965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>
            <a:stCxn id="159" idx="3"/>
            <a:endCxn id="163" idx="1"/>
          </p:cNvCxnSpPr>
          <p:nvPr/>
        </p:nvCxnSpPr>
        <p:spPr>
          <a:xfrm>
            <a:off x="4572000" y="5241788"/>
            <a:ext cx="1118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1"/>
          <p:cNvSpPr/>
          <p:nvPr/>
        </p:nvSpPr>
        <p:spPr>
          <a:xfrm>
            <a:off x="5570725" y="7535325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LLM-классификация</a:t>
            </a:r>
            <a:endParaRPr sz="1600"/>
          </a:p>
          <a:p>
            <a:r>
              <a:rPr lang="en-US" sz="1600"/>
              <a:t>отчёт + метрики</a:t>
            </a:r>
          </a:p>
        </p:txBody>
      </p:sp>
      <p:cxnSp>
        <p:nvCxnSpPr>
          <p:cNvPr id="170" name="Google Shape;170;p21"/>
          <p:cNvCxnSpPr>
            <a:stCxn id="169" idx="2"/>
            <a:endCxn id="171" idx="3"/>
          </p:cNvCxnSpPr>
          <p:nvPr/>
        </p:nvCxnSpPr>
        <p:spPr>
          <a:xfrm rot="10800000">
            <a:off x="3568525" y="8228025"/>
            <a:ext cx="2002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1"/>
          <p:cNvCxnSpPr>
            <a:stCxn id="165" idx="2"/>
            <a:endCxn id="163" idx="3"/>
          </p:cNvCxnSpPr>
          <p:nvPr/>
        </p:nvCxnSpPr>
        <p:spPr>
          <a:xfrm rot="10800000">
            <a:off x="7690625" y="5241788"/>
            <a:ext cx="1219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1"/>
          <p:cNvCxnSpPr>
            <a:stCxn id="163" idx="2"/>
            <a:endCxn id="169" idx="3"/>
          </p:cNvCxnSpPr>
          <p:nvPr/>
        </p:nvCxnSpPr>
        <p:spPr>
          <a:xfrm>
            <a:off x="6690488" y="6241950"/>
            <a:ext cx="0" cy="1293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1" name="Google Shape;171;p21" title="free-icon-pdf-337946.png"/>
          <p:cNvPicPr preferRelativeResize="0"/>
          <p:nvPr/>
        </p:nvPicPr>
        <p:blipFill rotWithShape="1">
          <a:blip r:embed="rId5">
            <a:alphaModFix/>
          </a:blip>
          <a:srcRect b="0" l="0" r="7141" t="0"/>
          <a:stretch/>
        </p:blipFill>
        <p:spPr>
          <a:xfrm>
            <a:off x="1328925" y="7022201"/>
            <a:ext cx="2239500" cy="241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13779412" y="867125"/>
            <a:ext cx="8259635" cy="8229600"/>
          </a:xfrm>
          <a:custGeom>
            <a:rect b="b" l="l" r="r" t="t"/>
            <a:pathLst>
              <a:path extrusionOk="0"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13779412" y="867125"/>
            <a:ext cx="8259635" cy="8229600"/>
          </a:xfrm>
          <a:custGeom>
            <a:rect b="b" l="l" r="r" t="t"/>
            <a:pathLst>
              <a:path extrusionOk="0"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Пример промежуточного отчёта</a:t>
            </a:r>
          </a:p>
        </p:txBody>
      </p:sp>
      <p:sp>
        <p:nvSpPr>
          <p:cNvPr id="180" name="Google Shape;180;p22"/>
          <p:cNvSpPr txBox="1"/>
          <p:nvPr/>
        </p:nvSpPr>
        <p:spPr>
          <a:xfrm>
            <a:off x="1274445" y="700919"/>
            <a:ext cx="933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FFFFFF"/>
                </a:solidFill>
              </a:rPr>
              <a:t>Пример отчёта</a:t>
            </a:r>
            <a:endParaRPr sz="9000"/>
          </a:p>
        </p:txBody>
      </p:sp>
      <p:cxnSp>
        <p:nvCxnSpPr>
          <p:cNvPr id="181" name="Google Shape;181;p22"/>
          <p:cNvCxnSpPr>
            <a:stCxn id="182" idx="1"/>
            <a:endCxn id="183" idx="3"/>
          </p:cNvCxnSpPr>
          <p:nvPr/>
        </p:nvCxnSpPr>
        <p:spPr>
          <a:xfrm>
            <a:off x="10029563" y="3968500"/>
            <a:ext cx="0" cy="580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4" name="Google Shape;184;p22"/>
          <p:cNvPicPr preferRelativeResize="0"/>
          <p:nvPr/>
        </p:nvPicPr>
        <p:blipFill rotWithShape="1">
          <a:blip r:embed="rId4">
            <a:alphaModFix/>
          </a:blip>
          <a:srcRect b="0" l="0" r="38477" t="0"/>
          <a:stretch/>
        </p:blipFill>
        <p:spPr>
          <a:xfrm>
            <a:off x="448600" y="2383125"/>
            <a:ext cx="12323998" cy="73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3"/>
          <p:cNvGrpSpPr/>
          <p:nvPr/>
        </p:nvGrpSpPr>
        <p:grpSpPr>
          <a:xfrm rot="10800000">
            <a:off x="12068175" y="827405"/>
            <a:ext cx="10382250" cy="15830550"/>
            <a:chOff x="0" y="0"/>
            <a:chExt cx="13843000" cy="21107400"/>
          </a:xfrm>
        </p:grpSpPr>
        <p:sp>
          <p:nvSpPr>
            <p:cNvPr id="190" name="Google Shape;190;p23"/>
            <p:cNvSpPr/>
            <p:nvPr/>
          </p:nvSpPr>
          <p:spPr>
            <a:xfrm>
              <a:off x="2489200" y="44577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Что уже пройдено?</a:t>
              </a:r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0" y="105156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Этапы готовы: Ахо-Корасик, ручные фильтры, gold-разметка, оценка LLM. Полные итоговые числа будут добавлены вручную.</a:t>
              </a:r>
            </a:p>
          </p:txBody>
        </p:sp>
        <p:sp>
          <p:nvSpPr>
            <p:cNvPr id="192" name="Google Shape;192;p23"/>
            <p:cNvSpPr/>
            <p:nvPr/>
          </p:nvSpPr>
          <p:spPr>
            <a:xfrm>
              <a:off x="3251200" y="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Aho:</a:t>
              </a:r>
            </a:p>
            <a:p>
              <a:r>
                <a:t>560 PDF</a:t>
              </a:r>
            </a:p>
            <a:p>
              <a:r>
                <a:t>53 160 поисковых форм</a:t>
              </a:r>
            </a:p>
            <a:p>
              <a:r>
                <a:t>1 818 308 сырых совпадений</a:t>
              </a:r>
            </a:p>
            <a:p>
              <a:r>
                <a:t>1 592 286 inside-word совпадений</a:t>
              </a:r>
            </a:p>
            <a:p>
              <a:r>
                <a:t>917 сек Docker run</a:t>
              </a:r>
            </a:p>
          </p:txBody>
        </p:sp>
      </p:grpSp>
      <p:sp>
        <p:nvSpPr>
          <p:cNvPr id="193" name="Google Shape;193;p23"/>
          <p:cNvSpPr txBox="1"/>
          <p:nvPr/>
        </p:nvSpPr>
        <p:spPr>
          <a:xfrm>
            <a:off x="1847850" y="1471613"/>
            <a:ext cx="1150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200">
                <a:solidFill>
                  <a:srgbClr val="FFFFFF"/>
                </a:solidFill>
              </a:rPr>
              <a:t>Фильтры:</a:t>
            </a:r>
            <a:endParaRPr sz="7000">
              <a:solidFill>
                <a:schemeClr val="lt1"/>
              </a:solidFill>
            </a:endParaRPr>
          </a:p>
          <a:p>
            <a:r>
              <a:rPr lang="en-US" sz="7200">
                <a:solidFill>
                  <a:srgbClr val="FFFFFF"/>
                </a:solidFill>
              </a:rPr>
              <a:t>короткие варианты</a:t>
            </a:r>
          </a:p>
          <a:p>
            <a:r>
              <a:rPr lang="en-US" sz="7200">
                <a:solidFill>
                  <a:srgbClr val="FFFFFF"/>
                </a:solidFill>
              </a:rPr>
              <a:t>inside-word шум</a:t>
            </a:r>
          </a:p>
          <a:p>
            <a:r>
              <a:rPr lang="en-US" sz="7200">
                <a:solidFill>
                  <a:srgbClr val="FFFFFF"/>
                </a:solidFill>
              </a:rPr>
              <a:t>дубли позиций</a:t>
            </a:r>
          </a:p>
          <a:p>
            <a:r>
              <a:rPr lang="en-US" sz="7200">
                <a:solidFill>
                  <a:srgbClr val="FFFFFF"/>
                </a:solidFill>
              </a:rPr>
              <a:t>группировка препарат/вещество</a:t>
            </a:r>
          </a:p>
          <a:p>
            <a:r>
              <a:rPr lang="en-US" sz="7200">
                <a:solidFill>
                  <a:srgbClr val="FFFFFF"/>
                </a:solidFill>
              </a:rPr>
              <a:t>ручной dashboard</a:t>
            </a:r>
          </a:p>
        </p:txBody>
      </p:sp>
      <p:sp>
        <p:nvSpPr>
          <p:cNvPr id="194" name="Google Shape;194;p23"/>
          <p:cNvSpPr txBox="1"/>
          <p:nvPr/>
        </p:nvSpPr>
        <p:spPr>
          <a:xfrm>
            <a:off x="261000" y="3476550"/>
            <a:ext cx="154176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Итоги: placeholder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2544550" y="4169250"/>
            <a:ext cx="3000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LLM: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gold dataset ~400 примеров</a:t>
            </a:r>
          </a:p>
          <a:p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формата ответа</a:t>
            </a:r>
          </a:p>
          <a:p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оценка ошибок классификации</a:t>
            </a:r>
          </a:p>
          <a:p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результаты: placeholder</a:t>
            </a:r>
          </a:p>
        </p:txBody>
      </p:sp>
      <p:sp>
        <p:nvSpPr>
          <p:cNvPr id="196" name="Google Shape;196;p23"/>
          <p:cNvSpPr txBox="1"/>
          <p:nvPr/>
        </p:nvSpPr>
        <p:spPr>
          <a:xfrm>
            <a:off x="537600" y="8278950"/>
            <a:ext cx="3958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Таблица метрик будет добавлена после финального прогона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61000" y="4169250"/>
            <a:ext cx="3000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1: 11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 2: 2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3: 2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 1: 13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 2: 20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 3: 20 </a:t>
            </a:r>
            <a:endParaRPr/>
          </a:p>
        </p:txBody>
      </p:sp>
      <p:pic>
        <p:nvPicPr>
          <p:cNvPr id="198" name="Google Shape;198;p23" title="qr-code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676" y="4169251"/>
            <a:ext cx="5273974" cy="5273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3"/>
          <p:cNvCxnSpPr/>
          <p:nvPr/>
        </p:nvCxnSpPr>
        <p:spPr>
          <a:xfrm>
            <a:off x="4767250" y="6806250"/>
            <a:ext cx="2843400" cy="0"/>
          </a:xfrm>
          <a:prstGeom prst="straightConnector1">
            <a:avLst/>
          </a:prstGeom>
          <a:noFill/>
          <a:ln cap="flat" cmpd="sng" w="38100">
            <a:solidFill>
              <a:srgbClr val="F14C2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3"/>
          <p:cNvSpPr txBox="1"/>
          <p:nvPr/>
        </p:nvSpPr>
        <p:spPr>
          <a:xfrm>
            <a:off x="5028225" y="6067350"/>
            <a:ext cx="1252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14C2B"/>
                </a:solidFill>
              </a:rPr>
              <a:t>Таблица</a:t>
            </a:r>
            <a:endParaRPr sz="3600">
              <a:solidFill>
                <a:srgbClr val="F14C2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/>
          <p:nvPr/>
        </p:nvSpPr>
        <p:spPr>
          <a:xfrm>
            <a:off x="10268150" y="590750"/>
            <a:ext cx="11135678" cy="11135678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Главная инженерная проблема — не найти совпадения, а доказать, что совпадения полезны.</a:t>
            </a:r>
          </a:p>
        </p:txBody>
      </p:sp>
      <p:grpSp>
        <p:nvGrpSpPr>
          <p:cNvPr id="206" name="Google Shape;206;p24"/>
          <p:cNvGrpSpPr/>
          <p:nvPr/>
        </p:nvGrpSpPr>
        <p:grpSpPr>
          <a:xfrm>
            <a:off x="1847875" y="904738"/>
            <a:ext cx="14156328" cy="6548937"/>
            <a:chOff x="33" y="-1181283"/>
            <a:chExt cx="18875104" cy="8731916"/>
          </a:xfrm>
        </p:grpSpPr>
        <p:sp>
          <p:nvSpPr>
            <p:cNvPr id="207" name="Google Shape;207;p24"/>
            <p:cNvSpPr txBox="1"/>
            <p:nvPr/>
          </p:nvSpPr>
          <p:spPr>
            <a:xfrm>
              <a:off x="33" y="2317133"/>
              <a:ext cx="15337800" cy="52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Aho даёт полноту, ручные фильтры дают чистку, LLM даёт контекст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8" name="Google Shape;208;p24"/>
            <p:cNvSpPr txBox="1"/>
            <p:nvPr/>
          </p:nvSpPr>
          <p:spPr>
            <a:xfrm>
              <a:off x="37" y="-1181283"/>
              <a:ext cx="188751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en-US" sz="9000">
                  <a:solidFill>
                    <a:srgbClr val="FFFFFF"/>
                  </a:solidFill>
                </a:rPr>
                <a:t>Без gold dataset нельзя честно выбрать промпт, модель и пороги доверия</a:t>
              </a:r>
              <a:endParaRPr sz="90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/>
          <p:nvPr/>
        </p:nvSpPr>
        <p:spPr>
          <a:xfrm rot="-4666841">
            <a:off x="10379889" y="-848680"/>
            <a:ext cx="12393727" cy="12212347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Шум словоформ</a:t>
            </a:r>
          </a:p>
        </p:txBody>
      </p:sp>
      <p:grpSp>
        <p:nvGrpSpPr>
          <p:cNvPr id="214" name="Google Shape;214;p25"/>
          <p:cNvGrpSpPr/>
          <p:nvPr/>
        </p:nvGrpSpPr>
        <p:grpSpPr>
          <a:xfrm>
            <a:off x="1847863" y="904694"/>
            <a:ext cx="11503362" cy="3672581"/>
            <a:chOff x="17" y="-1181342"/>
            <a:chExt cx="15337817" cy="4896775"/>
          </a:xfrm>
        </p:grpSpPr>
        <p:sp>
          <p:nvSpPr>
            <p:cNvPr id="215" name="Google Shape;215;p25"/>
            <p:cNvSpPr txBox="1"/>
            <p:nvPr/>
          </p:nvSpPr>
          <p:spPr>
            <a:xfrm>
              <a:off x="33" y="1252733"/>
              <a:ext cx="15337800" cy="24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Дубли после PDF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6" name="Google Shape;216;p25"/>
            <p:cNvSpPr txBox="1"/>
            <p:nvPr/>
          </p:nvSpPr>
          <p:spPr>
            <a:xfrm>
              <a:off x="17" y="-1181342"/>
              <a:ext cx="153378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en-US" sz="9000">
                  <a:solidFill>
                    <a:srgbClr val="FFFFFF"/>
                  </a:solidFill>
                </a:rPr>
                <a:t>LLM-галлюцинации</a:t>
              </a:r>
              <a:endParaRPr sz="9000">
                <a:solidFill>
                  <a:srgbClr val="FFFFFF"/>
                </a:solidFill>
              </a:endParaRPr>
            </a:p>
          </p:txBody>
        </p:sp>
      </p:grpSp>
      <p:sp>
        <p:nvSpPr>
          <p:cNvPr id="217" name="Google Shape;217;p25"/>
          <p:cNvSpPr txBox="1"/>
          <p:nvPr/>
        </p:nvSpPr>
        <p:spPr>
          <a:xfrm>
            <a:off x="76200" y="5296275"/>
            <a:ext cx="10164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highlight>
                  <a:srgbClr val="B43920"/>
                </a:highlight>
              </a:rPr>
              <a:t>Подводные камни</a:t>
            </a:r>
            <a:endParaRPr sz="3000">
              <a:solidFill>
                <a:schemeClr val="lt1"/>
              </a:solidFill>
              <a:highlight>
                <a:srgbClr val="B43920"/>
              </a:highlight>
            </a:endParaRPr>
          </a:p>
        </p:txBody>
      </p:sp>
      <p:pic>
        <p:nvPicPr>
          <p:cNvPr id="218" name="Google Shape;218;p25" title="qr-cod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23300" y="4855913"/>
            <a:ext cx="2219924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5"/>
          <p:cNvCxnSpPr>
            <a:stCxn id="217" idx="3"/>
            <a:endCxn id="218" idx="1"/>
          </p:cNvCxnSpPr>
          <p:nvPr/>
        </p:nvCxnSpPr>
        <p:spPr>
          <a:xfrm>
            <a:off x="10241100" y="5965875"/>
            <a:ext cx="1582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5"/>
          <p:cNvSpPr txBox="1"/>
          <p:nvPr/>
        </p:nvSpPr>
        <p:spPr>
          <a:xfrm>
            <a:off x="4702000" y="7608575"/>
            <a:ext cx="9264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highlight>
                  <a:srgbClr val="B43920"/>
                </a:highlight>
              </a:rPr>
              <a:t>Короткие варианты и части слов создают ложные совпадения</a:t>
            </a:r>
            <a:endParaRPr sz="3000">
              <a:solidFill>
                <a:schemeClr val="lt1"/>
              </a:solidFill>
              <a:highlight>
                <a:srgbClr val="B43920"/>
              </a:highlight>
            </a:endParaRPr>
          </a:p>
        </p:txBody>
      </p:sp>
      <p:pic>
        <p:nvPicPr>
          <p:cNvPr id="221" name="Google Shape;221;p25" title="qr-code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225" y="7075825"/>
            <a:ext cx="2219924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25"/>
          <p:cNvCxnSpPr>
            <a:stCxn id="220" idx="1"/>
            <a:endCxn id="221" idx="3"/>
          </p:cNvCxnSpPr>
          <p:nvPr/>
        </p:nvCxnSpPr>
        <p:spPr>
          <a:xfrm rot="10800000">
            <a:off x="2770000" y="8185775"/>
            <a:ext cx="1932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/>
        </p:nvSpPr>
        <p:spPr>
          <a:xfrm>
            <a:off x="5178577" y="2934759"/>
            <a:ext cx="11229900" cy="3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rgbClr val="FFFFFF"/>
                </a:solidFill>
              </a:rPr>
              <a:t>Факт-чекинг рекомендаций — это связка IR, rule-based фильтров и LLM-классификации.</a:t>
            </a:r>
            <a:endParaRPr b="1" sz="4000">
              <a:solidFill>
                <a:srgbClr val="FFFFFF"/>
              </a:solidFill>
            </a:endParaRPr>
          </a:p>
          <a:p>
            <a:r>
              <a:rPr lang="en-US" sz="4000">
                <a:solidFill>
                  <a:srgbClr val="FFFFFF"/>
                </a:solidFill>
              </a:rPr>
              <a:t/>
            </a:r>
          </a:p>
          <a:p>
            <a:r>
              <a:rPr lang="en-US" sz="4000">
                <a:solidFill>
                  <a:srgbClr val="FFFFFF"/>
                </a:solidFill>
              </a:rPr>
              <a:t>Магия LLM не заменяет датасет, фильтры и трассируемый отчёт.</a:t>
            </a:r>
          </a:p>
        </p:txBody>
      </p:sp>
      <p:grpSp>
        <p:nvGrpSpPr>
          <p:cNvPr id="228" name="Google Shape;228;p26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229" name="Google Shape;229;p26"/>
            <p:cNvSpPr/>
            <p:nvPr/>
          </p:nvSpPr>
          <p:spPr>
            <a:xfrm>
              <a:off x="0" y="0"/>
              <a:ext cx="6779285" cy="9735266"/>
            </a:xfrm>
            <a:custGeom>
              <a:rect b="b" l="l" r="r" t="t"/>
              <a:pathLst>
                <a:path extrusionOk="0"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0" name="Google Shape;230;p26"/>
            <p:cNvSpPr/>
            <p:nvPr/>
          </p:nvSpPr>
          <p:spPr>
            <a:xfrm>
              <a:off x="0" y="8899167"/>
              <a:ext cx="6779285" cy="9735266"/>
            </a:xfrm>
            <a:custGeom>
              <a:rect b="b" l="l" r="r" t="t"/>
              <a:pathLst>
                <a:path extrusionOk="0"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/>
          <p:nvPr/>
        </p:nvSpPr>
        <p:spPr>
          <a:xfrm>
            <a:off x="-2995532" y="592993"/>
            <a:ext cx="7876514" cy="9101014"/>
          </a:xfrm>
          <a:custGeom>
            <a:rect b="b" l="l" r="r" t="t"/>
            <a:pathLst>
              <a:path extrusionOk="0" h="9101014" w="7876514">
                <a:moveTo>
                  <a:pt x="0" y="0"/>
                </a:moveTo>
                <a:lnTo>
                  <a:pt x="7876514" y="0"/>
                </a:lnTo>
                <a:lnTo>
                  <a:pt x="7876514" y="9101014"/>
                </a:lnTo>
                <a:lnTo>
                  <a:pt x="0" y="9101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Что покажу на докладе?</a:t>
            </a:r>
          </a:p>
        </p:txBody>
      </p:sp>
      <p:sp>
        <p:nvSpPr>
          <p:cNvPr id="236" name="Google Shape;236;p27"/>
          <p:cNvSpPr txBox="1"/>
          <p:nvPr/>
        </p:nvSpPr>
        <p:spPr>
          <a:xfrm>
            <a:off x="5447197" y="1134575"/>
            <a:ext cx="12295500" cy="25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200">
                <a:solidFill>
                  <a:srgbClr val="FFFFFF"/>
                </a:solidFill>
              </a:rPr>
              <a:t>Дашборд ручной фильтрации: почему фильтры нужны до LLM</a:t>
            </a:r>
            <a:endParaRPr sz="7200">
              <a:solidFill>
                <a:srgbClr val="FFFFFF"/>
              </a:solidFill>
            </a:endParaRPr>
          </a:p>
          <a:p>
            <a:r>
              <a:rPr lang="en-US" sz="7200">
                <a:solidFill>
                  <a:srgbClr val="FFFFFF"/>
                </a:solidFill>
              </a:rPr>
              <a:t>Gold dataset: как размечались примеры</a:t>
            </a:r>
          </a:p>
          <a:p>
            <a:r>
              <a:rPr lang="en-US" sz="7200">
                <a:solidFill>
                  <a:srgbClr val="FFFFFF"/>
                </a:solidFill>
              </a:rPr>
              <a:t>LLM evaluation: где модель путается</a:t>
            </a:r>
          </a:p>
          <a:p>
            <a:r>
              <a:rPr lang="en-US" sz="7200">
                <a:solidFill>
                  <a:srgbClr val="FFFFFF"/>
                </a:solidFill>
              </a:rPr>
              <a:t>Архитектура: как сохранить трассировку от PDF до вывода</a:t>
            </a:r>
          </a:p>
          <a:p>
            <a:r>
              <a:rPr lang="en-US" sz="7200">
                <a:solidFill>
                  <a:srgbClr val="FFFFFF"/>
                </a:solidFill>
              </a:rPr>
              <a:t>Финальный отчёт: какие метрики ещё нужно добить</a:t>
            </a:r>
          </a:p>
        </p:txBody>
      </p:sp>
      <p:sp>
        <p:nvSpPr>
          <p:cNvPr id="237" name="Google Shape;237;p27"/>
          <p:cNvSpPr txBox="1"/>
          <p:nvPr/>
        </p:nvSpPr>
        <p:spPr>
          <a:xfrm>
            <a:off x="5447200" y="3429000"/>
            <a:ext cx="12085500" cy="55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042" lvl="1" marL="6800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50"/>
              <a:buFont typeface="Arial"/>
              <a:buChar char="•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Автоматизация: Анализ тысяч страниц текста за часы</a:t>
            </a:r>
            <a:endParaRPr>
              <a:solidFill>
                <a:schemeClr val="lt1"/>
              </a:solidFill>
            </a:endParaRPr>
          </a:p>
          <a:p>
            <a:pPr indent="-340042" lvl="1" marL="6800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50"/>
              <a:buFont typeface="Arial"/>
              <a:buChar char="•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Прозрачность и открытость: Код и данные на GitHub</a:t>
            </a:r>
            <a:endParaRPr>
              <a:solidFill>
                <a:schemeClr val="lt1"/>
              </a:solidFill>
            </a:endParaRPr>
          </a:p>
          <a:p>
            <a:pPr indent="-340042" lvl="1" marL="6800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50"/>
              <a:buFont typeface="Arial"/>
              <a:buChar char="•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Будущее: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Arial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Дашборды для мониторинга рекомендаций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Arial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 медицинскими базами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Arial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Автоматическая валидация документов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Montserrat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Продвинутый ИИ для формирования рекомендаций и контроля качества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/>
        </p:nvSpPr>
        <p:spPr>
          <a:xfrm>
            <a:off x="1028700" y="510675"/>
            <a:ext cx="11133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000">
                <a:solidFill>
                  <a:srgbClr val="FFFFFF"/>
                </a:solidFill>
              </a:rPr>
              <a:t>Выводы</a:t>
            </a:r>
            <a:endParaRPr sz="7000">
              <a:solidFill>
                <a:srgbClr val="FFFFFF"/>
              </a:solidFill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707650" y="1790275"/>
            <a:ext cx="1289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Поиск всех совпадений решается Ахо-Корасиком</a:t>
            </a:r>
            <a:endParaRPr sz="2400">
              <a:solidFill>
                <a:schemeClr val="lt1"/>
              </a:solidFill>
            </a:endParaRPr>
          </a:p>
          <a:p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Качество результата определяется фильтрами и разметкой</a:t>
            </a:r>
          </a:p>
          <a:p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полезна для контекста, но требует контроля формата и ошибок</a:t>
            </a:r>
          </a:p>
        </p:txBody>
      </p:sp>
      <p:grpSp>
        <p:nvGrpSpPr>
          <p:cNvPr id="244" name="Google Shape;244;p28"/>
          <p:cNvGrpSpPr/>
          <p:nvPr/>
        </p:nvGrpSpPr>
        <p:grpSpPr>
          <a:xfrm>
            <a:off x="13900067" y="1028700"/>
            <a:ext cx="7289966" cy="13974163"/>
            <a:chOff x="0" y="0"/>
            <a:chExt cx="9719954" cy="18632217"/>
          </a:xfrm>
        </p:grpSpPr>
        <p:sp>
          <p:nvSpPr>
            <p:cNvPr id="245" name="Google Shape;245;p28"/>
            <p:cNvSpPr/>
            <p:nvPr/>
          </p:nvSpPr>
          <p:spPr>
            <a:xfrm>
              <a:off x="0" y="0"/>
              <a:ext cx="9719954" cy="11160698"/>
            </a:xfrm>
            <a:custGeom>
              <a:rect b="b" l="l" r="r" t="t"/>
              <a:pathLst>
                <a:path extrusionOk="0"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8"/>
                  </a:lnTo>
                  <a:lnTo>
                    <a:pt x="0" y="111606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Доделать финальный прогон на полном корпусе</a:t>
              </a:r>
            </a:p>
            <a:p>
              <a:r>
                <a:t>Заполнить итоговую таблицу метрик</a:t>
              </a:r>
            </a:p>
            <a:p>
              <a:r>
                <a:t>Подготовить демонстрацию dashboard и 2-3 смешных примера из данных</a:t>
              </a:r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0" y="7471519"/>
              <a:ext cx="9719954" cy="11160698"/>
            </a:xfrm>
            <a:custGeom>
              <a:rect b="b" l="l" r="r" t="t"/>
              <a:pathLst>
                <a:path extrusionOk="0"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9"/>
                  </a:lnTo>
                  <a:lnTo>
                    <a:pt x="0" y="11160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>
              <a:r>
                <a:t>Дальше</a:t>
              </a:r>
            </a:p>
          </p:txBody>
        </p:sp>
      </p:grpSp>
      <p:sp>
        <p:nvSpPr>
          <p:cNvPr id="247" name="Google Shape;247;p28"/>
          <p:cNvSpPr txBox="1"/>
          <p:nvPr/>
        </p:nvSpPr>
        <p:spPr>
          <a:xfrm>
            <a:off x="395825" y="5808250"/>
            <a:ext cx="128946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Пересмотр рекомендаций, основываясь на принципах доказательной медицины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междисциплинарной группы (клиницисты, аналитики, ИТ-специалисты и т. д.) для создания системы автоматической валидации клинических рекомендаций Российской Федерации</a:t>
            </a:r>
            <a:endParaRPr sz="3000">
              <a:solidFill>
                <a:schemeClr val="lt1"/>
              </a:solidFill>
            </a:endParaRPr>
          </a:p>
        </p:txBody>
      </p:sp>
      <p:cxnSp>
        <p:nvCxnSpPr>
          <p:cNvPr id="248" name="Google Shape;248;p28"/>
          <p:cNvCxnSpPr/>
          <p:nvPr/>
        </p:nvCxnSpPr>
        <p:spPr>
          <a:xfrm>
            <a:off x="340325" y="4158800"/>
            <a:ext cx="13005600" cy="0"/>
          </a:xfrm>
          <a:prstGeom prst="straightConnector1">
            <a:avLst/>
          </a:prstGeom>
          <a:noFill/>
          <a:ln cap="flat" cmpd="sng" w="38100">
            <a:solidFill>
              <a:srgbClr val="FD502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8"/>
          <p:cNvSpPr txBox="1"/>
          <p:nvPr/>
        </p:nvSpPr>
        <p:spPr>
          <a:xfrm>
            <a:off x="1028700" y="4444713"/>
            <a:ext cx="11133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000">
                <a:solidFill>
                  <a:srgbClr val="FFFFFF"/>
                </a:solidFill>
              </a:rPr>
              <a:t>Рекомендации</a:t>
            </a:r>
            <a:endParaRPr sz="7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/>
        </p:nvSpPr>
        <p:spPr>
          <a:xfrm>
            <a:off x="887850" y="8162625"/>
            <a:ext cx="5861700" cy="1331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Почта: vanya.litvak@gmail.com</a:t>
            </a:r>
            <a:endParaRPr sz="3000">
              <a:solidFill>
                <a:schemeClr val="lt1"/>
              </a:solidFill>
            </a:endParaRPr>
          </a:p>
          <a:p>
            <a:r>
              <a:rPr b="1" lang="en-US" sz="3000">
                <a:solidFill>
                  <a:schemeClr val="lt1"/>
                </a:solidFill>
              </a:rPr>
              <a:t>Телеграм: @TryDotAtwo</a:t>
            </a:r>
          </a:p>
        </p:txBody>
      </p:sp>
      <p:sp>
        <p:nvSpPr>
          <p:cNvPr id="255" name="Google Shape;255;p29"/>
          <p:cNvSpPr/>
          <p:nvPr/>
        </p:nvSpPr>
        <p:spPr>
          <a:xfrm rot="-6438166">
            <a:off x="9986005" y="-3008472"/>
            <a:ext cx="10289732" cy="10289732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>
            <a:r>
              <a:t>Что нужно от сообщества?</a:t>
            </a:r>
          </a:p>
        </p:txBody>
      </p:sp>
      <p:sp>
        <p:nvSpPr>
          <p:cNvPr id="256" name="Google Shape;256;p29"/>
          <p:cNvSpPr txBox="1"/>
          <p:nvPr/>
        </p:nvSpPr>
        <p:spPr>
          <a:xfrm>
            <a:off x="1028700" y="901925"/>
            <a:ext cx="1113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200">
                <a:solidFill>
                  <a:srgbClr val="FFFFFF"/>
                </a:solidFill>
              </a:rPr>
              <a:t>Контрибьюторы: NLP, ML evaluation, medical QA, backend/dashboard</a:t>
            </a:r>
            <a:endParaRPr sz="7200">
              <a:solidFill>
                <a:srgbClr val="FFFFFF"/>
              </a:solidFill>
            </a:endParaRPr>
          </a:p>
        </p:txBody>
      </p:sp>
      <p:pic>
        <p:nvPicPr>
          <p:cNvPr id="257" name="Google Shape;257;p29" title="qr-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5250" y="2494275"/>
            <a:ext cx="6414177" cy="641417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9"/>
          <p:cNvSpPr txBox="1"/>
          <p:nvPr/>
        </p:nvSpPr>
        <p:spPr>
          <a:xfrm>
            <a:off x="887850" y="6275875"/>
            <a:ext cx="108276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Улучшить словари</a:t>
            </a:r>
            <a:endParaRPr b="1" sz="3000">
              <a:solidFill>
                <a:srgbClr val="0097A7"/>
              </a:solidFill>
            </a:endParaRPr>
          </a:p>
          <a:p>
            <a:r>
              <a:rPr b="1" lang="en-US" sz="3000">
                <a:solidFill>
                  <a:schemeClr val="lt1"/>
                </a:solidFill>
              </a:rPr>
              <a:t>Разметить спорные примеры</a:t>
            </a:r>
          </a:p>
          <a:p>
            <a:r>
              <a:rPr b="1" lang="en-US" sz="3000">
                <a:solidFill>
                  <a:schemeClr val="lt1"/>
                </a:solidFill>
              </a:rPr>
              <a:t>Проверить ошибки LLM</a:t>
            </a:r>
          </a:p>
          <a:p>
            <a:r>
              <a:rPr b="1" lang="en-US" sz="3000">
                <a:solidFill>
                  <a:schemeClr val="lt1"/>
                </a:solidFill>
              </a:rPr>
              <a:t>Сделать устойчивый benchmark</a:t>
            </a:r>
          </a:p>
          <a:p>
            <a:r>
              <a:rPr b="1" lang="en-US" sz="3000">
                <a:solidFill>
                  <a:schemeClr val="lt1"/>
                </a:solidFill>
              </a:rPr>
              <a:t>Упаковать dashboard</a:t>
            </a:r>
          </a:p>
          <a:p>
            <a:r>
              <a:rPr b="1" lang="en-US" sz="3000">
                <a:solidFill>
                  <a:schemeClr val="lt1"/>
                </a:solidFill>
              </a:rPr>
              <a:t>Помочь с медицинской экспертизой</a:t>
            </a:r>
          </a:p>
        </p:txBody>
      </p:sp>
      <p:sp>
        <p:nvSpPr>
          <p:cNvPr id="259" name="Google Shape;259;p29"/>
          <p:cNvSpPr txBox="1"/>
          <p:nvPr/>
        </p:nvSpPr>
        <p:spPr>
          <a:xfrm>
            <a:off x="1028700" y="2827325"/>
            <a:ext cx="10545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Зоны участия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1028700" y="2187870"/>
            <a:ext cx="58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14C2B"/>
                </a:solidFill>
                <a:latin typeface="Montserrat"/>
                <a:ea typeface="Montserrat"/>
                <a:cs typeface="Montserrat"/>
                <a:sym typeface="Montserrat"/>
              </a:rPr>
              <a:t>Что можно сделать?</a:t>
            </a:r>
            <a:endParaRPr b="1" sz="3000">
              <a:solidFill>
                <a:srgbClr val="0097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